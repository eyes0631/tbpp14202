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0"/>
  </p:notesMasterIdLst>
  <p:sldIdLst>
    <p:sldId id="256" r:id="rId2"/>
    <p:sldId id="267" r:id="rId3"/>
    <p:sldId id="257" r:id="rId4"/>
    <p:sldId id="273" r:id="rId5"/>
    <p:sldId id="258" r:id="rId6"/>
    <p:sldId id="271" r:id="rId7"/>
    <p:sldId id="272" r:id="rId8"/>
    <p:sldId id="259" r:id="rId9"/>
    <p:sldId id="268" r:id="rId10"/>
    <p:sldId id="261" r:id="rId11"/>
    <p:sldId id="262" r:id="rId12"/>
    <p:sldId id="263" r:id="rId13"/>
    <p:sldId id="264" r:id="rId14"/>
    <p:sldId id="298" r:id="rId15"/>
    <p:sldId id="292" r:id="rId16"/>
    <p:sldId id="286" r:id="rId17"/>
    <p:sldId id="288" r:id="rId18"/>
    <p:sldId id="293" r:id="rId19"/>
    <p:sldId id="287" r:id="rId20"/>
    <p:sldId id="285" r:id="rId21"/>
    <p:sldId id="274" r:id="rId22"/>
    <p:sldId id="294" r:id="rId23"/>
    <p:sldId id="295" r:id="rId24"/>
    <p:sldId id="284" r:id="rId25"/>
    <p:sldId id="291" r:id="rId26"/>
    <p:sldId id="296" r:id="rId27"/>
    <p:sldId id="297" r:id="rId28"/>
    <p:sldId id="266" r:id="rId29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F7B43-55C0-4BC1-AA53-6F60944792BF}" type="datetimeFigureOut">
              <a:rPr lang="zh-TW" altLang="en-US" smtClean="0"/>
              <a:t>2019/1/10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CFC7E-786A-4E89-915A-E944395EF3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60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0CFC7E-786A-4E89-915A-E944395EF3DB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281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14917" y="227014"/>
            <a:ext cx="10363200" cy="936625"/>
          </a:xfrm>
        </p:spPr>
        <p:txBody>
          <a:bodyPr/>
          <a:lstStyle>
            <a:lvl1pPr algn="ctr">
              <a:defRPr sz="4800"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18367" y="1379539"/>
            <a:ext cx="8534400" cy="47942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" y="28061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TW" altLang="en-US" sz="1800"/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239185" y="1235075"/>
            <a:ext cx="11713633" cy="122238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0000FF">
                  <a:gamma/>
                  <a:tint val="0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TW" altLang="zh-TW" sz="800"/>
          </a:p>
        </p:txBody>
      </p:sp>
      <p:pic>
        <p:nvPicPr>
          <p:cNvPr id="9230" name="Picture 14" descr="iso小圖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1" y="6029326"/>
            <a:ext cx="863600" cy="62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1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133" y="5965826"/>
            <a:ext cx="8077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77889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862308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2218561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692151"/>
            <a:ext cx="5384800" cy="543401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692151"/>
            <a:ext cx="5384800" cy="543401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7032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090600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58297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7696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0612129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372083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57181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50301" y="146051"/>
            <a:ext cx="2832100" cy="59801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251884" y="146051"/>
            <a:ext cx="8295216" cy="5980113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99756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55F28-3CD4-41E0-9A52-E20164AAAE69}" type="datetimeFigureOut">
              <a:rPr lang="zh-TW" altLang="en-US" smtClean="0"/>
              <a:t>2019/1/10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F40C-7FEF-4B85-8A43-0B9FD08860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12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84" y="146050"/>
            <a:ext cx="10778067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692151"/>
            <a:ext cx="10972800" cy="543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" y="28061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TW" altLang="en-US" sz="1800"/>
          </a:p>
        </p:txBody>
      </p:sp>
      <p:sp>
        <p:nvSpPr>
          <p:cNvPr id="1038" name="Text Box 14"/>
          <p:cNvSpPr txBox="1">
            <a:spLocks noChangeArrowheads="1"/>
          </p:cNvSpPr>
          <p:nvPr/>
        </p:nvSpPr>
        <p:spPr bwMode="auto">
          <a:xfrm>
            <a:off x="239185" y="584200"/>
            <a:ext cx="11713633" cy="122238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0000FF">
                  <a:gamma/>
                  <a:tint val="0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TW" altLang="zh-TW" sz="800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315385" y="6148389"/>
            <a:ext cx="11713633" cy="122237"/>
          </a:xfrm>
          <a:prstGeom prst="rect">
            <a:avLst/>
          </a:prstGeom>
          <a:gradFill rotWithShape="1">
            <a:gsLst>
              <a:gs pos="0">
                <a:srgbClr val="0000FF">
                  <a:gamma/>
                  <a:tint val="0"/>
                  <a:invGamma/>
                </a:srgbClr>
              </a:gs>
              <a:gs pos="100000">
                <a:srgbClr val="0000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TW" altLang="zh-TW" sz="800"/>
          </a:p>
        </p:txBody>
      </p:sp>
      <p:pic>
        <p:nvPicPr>
          <p:cNvPr id="1041" name="Picture 17" descr="iso小圖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1" y="6267450"/>
            <a:ext cx="759884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885" y="6291264"/>
            <a:ext cx="6242049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0579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BIB exchanger Module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自動板交換機模組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064" y="1479374"/>
            <a:ext cx="2932905" cy="455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026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6000" b="1" dirty="0" smtClean="0"/>
              <a:t>HARDWARE</a:t>
            </a:r>
            <a:endParaRPr lang="zh-TW" altLang="en-US" sz="6000" b="1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762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438" y="204788"/>
            <a:ext cx="3667125" cy="644842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8380829" y="5251403"/>
            <a:ext cx="280384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/>
              <a:t>下層平台</a:t>
            </a:r>
            <a:r>
              <a:rPr lang="en-US" altLang="zh-TW" dirty="0" smtClean="0"/>
              <a:t>, Down </a:t>
            </a:r>
            <a:r>
              <a:rPr lang="en-US" altLang="zh-TW" dirty="0"/>
              <a:t>Transfer</a:t>
            </a:r>
            <a:endParaRPr lang="zh-TW" altLang="en-US" dirty="0"/>
          </a:p>
        </p:txBody>
      </p:sp>
      <p:cxnSp>
        <p:nvCxnSpPr>
          <p:cNvPr id="10" name="直線接點 9"/>
          <p:cNvCxnSpPr>
            <a:stCxn id="11" idx="3"/>
          </p:cNvCxnSpPr>
          <p:nvPr/>
        </p:nvCxnSpPr>
        <p:spPr>
          <a:xfrm flipV="1">
            <a:off x="3637589" y="2276629"/>
            <a:ext cx="1308984" cy="7003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017562" y="2653821"/>
            <a:ext cx="2620027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推車夾</a:t>
            </a:r>
            <a:r>
              <a:rPr lang="zh-TW" altLang="en-US" dirty="0" smtClean="0"/>
              <a:t>持</a:t>
            </a:r>
            <a:r>
              <a:rPr lang="en-US" altLang="zh-TW" dirty="0" smtClean="0"/>
              <a:t>, </a:t>
            </a:r>
          </a:p>
          <a:p>
            <a:pPr algn="ctr"/>
            <a:r>
              <a:rPr lang="en-US" altLang="zh-TW" dirty="0" smtClean="0"/>
              <a:t>Carrier Clasper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322565" y="1192173"/>
            <a:ext cx="267829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/>
              <a:t>升降軸</a:t>
            </a:r>
            <a:r>
              <a:rPr lang="en-US" altLang="zh-TW" dirty="0" smtClean="0"/>
              <a:t>, Elevator</a:t>
            </a:r>
            <a:endParaRPr lang="zh-TW" altLang="en-US" dirty="0"/>
          </a:p>
        </p:txBody>
      </p:sp>
      <p:cxnSp>
        <p:nvCxnSpPr>
          <p:cNvPr id="16" name="直線接點 15"/>
          <p:cNvCxnSpPr>
            <a:stCxn id="12" idx="1"/>
          </p:cNvCxnSpPr>
          <p:nvPr/>
        </p:nvCxnSpPr>
        <p:spPr>
          <a:xfrm flipH="1" flipV="1">
            <a:off x="6962660" y="808554"/>
            <a:ext cx="1359905" cy="568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8" idx="1"/>
          </p:cNvCxnSpPr>
          <p:nvPr/>
        </p:nvCxnSpPr>
        <p:spPr>
          <a:xfrm flipH="1">
            <a:off x="6015211" y="5436069"/>
            <a:ext cx="2365618" cy="3925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8380831" y="2653821"/>
            <a:ext cx="262002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閘門</a:t>
            </a:r>
            <a:r>
              <a:rPr lang="en-US" altLang="zh-TW" dirty="0" smtClean="0"/>
              <a:t>, Gate</a:t>
            </a:r>
            <a:endParaRPr lang="zh-TW" altLang="en-US" dirty="0"/>
          </a:p>
        </p:txBody>
      </p:sp>
      <p:cxnSp>
        <p:nvCxnSpPr>
          <p:cNvPr id="32" name="直線接點 31"/>
          <p:cNvCxnSpPr>
            <a:stCxn id="31" idx="1"/>
          </p:cNvCxnSpPr>
          <p:nvPr/>
        </p:nvCxnSpPr>
        <p:spPr>
          <a:xfrm flipH="1" flipV="1">
            <a:off x="6423102" y="2065867"/>
            <a:ext cx="1957729" cy="7726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8380831" y="4614378"/>
            <a:ext cx="280384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/>
              <a:t>上層平台</a:t>
            </a:r>
            <a:r>
              <a:rPr lang="en-US" altLang="zh-TW" dirty="0" smtClean="0"/>
              <a:t>, Top </a:t>
            </a:r>
            <a:r>
              <a:rPr lang="en-US" altLang="zh-TW" dirty="0"/>
              <a:t>Transfer</a:t>
            </a:r>
            <a:endParaRPr lang="zh-TW" altLang="en-US" dirty="0"/>
          </a:p>
        </p:txBody>
      </p:sp>
      <p:cxnSp>
        <p:nvCxnSpPr>
          <p:cNvPr id="56" name="直線接點 55"/>
          <p:cNvCxnSpPr>
            <a:stCxn id="55" idx="1"/>
          </p:cNvCxnSpPr>
          <p:nvPr/>
        </p:nvCxnSpPr>
        <p:spPr>
          <a:xfrm flipH="1">
            <a:off x="6015211" y="4799044"/>
            <a:ext cx="2365620" cy="5771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0856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Elevator &amp; Carrier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497" y="678867"/>
            <a:ext cx="4138840" cy="564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512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313" y="920687"/>
            <a:ext cx="3924300" cy="572452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Elevator &amp; Carrier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6188814"/>
              </p:ext>
            </p:extLst>
          </p:nvPr>
        </p:nvGraphicFramePr>
        <p:xfrm>
          <a:off x="255858" y="792237"/>
          <a:ext cx="8171325" cy="4963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7598">
                  <a:extLst>
                    <a:ext uri="{9D8B030D-6E8A-4147-A177-3AD203B41FA5}">
                      <a16:colId xmlns:a16="http://schemas.microsoft.com/office/drawing/2014/main" val="3795268646"/>
                    </a:ext>
                  </a:extLst>
                </a:gridCol>
                <a:gridCol w="433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6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0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3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模組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編號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中文名稱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英文名稱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用途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備註</a:t>
                      </a:r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Elevator</a:t>
                      </a:r>
                      <a:endParaRPr lang="zh-TW" altLang="en-US" sz="1200" dirty="0"/>
                    </a:p>
                  </a:txBody>
                  <a:tcPr vert="ea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Z</a:t>
                      </a:r>
                      <a:r>
                        <a:rPr lang="zh-TW" altLang="en-US" sz="1200" dirty="0" smtClean="0"/>
                        <a:t> 軸移動安全偵測</a:t>
                      </a:r>
                      <a:r>
                        <a:rPr lang="en-US" altLang="zh-TW" sz="1200" dirty="0" smtClean="0"/>
                        <a:t>-</a:t>
                      </a:r>
                      <a:r>
                        <a:rPr lang="zh-TW" altLang="en-US" sz="1200" dirty="0" smtClean="0"/>
                        <a:t>前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Front BIB Position Detector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偵測主機與板交換機之間是否有異物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</a:t>
                      </a:r>
                      <a:r>
                        <a:rPr lang="zh-TW" altLang="en-US" sz="1200" dirty="0" smtClean="0"/>
                        <a:t>接點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944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Z</a:t>
                      </a:r>
                      <a:r>
                        <a:rPr lang="zh-TW" altLang="en-US" sz="1200" dirty="0" smtClean="0"/>
                        <a:t> 軸移動安全偵測</a:t>
                      </a:r>
                      <a:r>
                        <a:rPr lang="en-US" altLang="zh-TW" sz="1200" dirty="0" smtClean="0"/>
                        <a:t>-</a:t>
                      </a:r>
                      <a:r>
                        <a:rPr lang="zh-TW" altLang="en-US" sz="1200" dirty="0" smtClean="0"/>
                        <a:t>後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Back BIB Position Detector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偵測板交換機與手推台車之間是否有異物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</a:t>
                      </a:r>
                      <a:r>
                        <a:rPr lang="zh-TW" altLang="en-US" sz="1200" dirty="0" smtClean="0"/>
                        <a:t>接點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2643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Z </a:t>
                      </a:r>
                      <a:r>
                        <a:rPr lang="zh-TW" altLang="en-US" sz="1200" dirty="0" smtClean="0"/>
                        <a:t>軸馬達</a:t>
                      </a:r>
                      <a:endParaRPr lang="en-US" altLang="zh-TW" sz="12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Axis Z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帶動 </a:t>
                      </a:r>
                      <a:r>
                        <a:rPr lang="en-US" altLang="zh-TW" sz="1200" dirty="0" smtClean="0"/>
                        <a:t>Transfer </a:t>
                      </a:r>
                      <a:r>
                        <a:rPr lang="zh-TW" altLang="en-US" sz="1200" dirty="0" smtClean="0"/>
                        <a:t>上下移動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135138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Carrier</a:t>
                      </a:r>
                      <a:endParaRPr lang="zh-TW" altLang="en-US" sz="1200" dirty="0"/>
                    </a:p>
                  </a:txBody>
                  <a:tcPr vert="ea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4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推車板定位偵測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Carrier BIB Position Detector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偵測手推台車內的板子是否超出軌道面</a:t>
                      </a:r>
                      <a:r>
                        <a:rPr lang="en-US" altLang="zh-TW" sz="1200" dirty="0" smtClean="0"/>
                        <a:t>(</a:t>
                      </a:r>
                      <a:r>
                        <a:rPr lang="zh-TW" altLang="en-US" sz="1200" dirty="0" smtClean="0"/>
                        <a:t>近板交換機</a:t>
                      </a:r>
                      <a:r>
                        <a:rPr lang="en-US" altLang="zh-TW" sz="1200" dirty="0" smtClean="0"/>
                        <a:t>)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</a:t>
                      </a:r>
                      <a:r>
                        <a:rPr lang="zh-TW" altLang="en-US" sz="1200" dirty="0" smtClean="0"/>
                        <a:t>接點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閘門板定位偵測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Gate BIB Position Detector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偵測閘門處是否有異物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B</a:t>
                      </a:r>
                      <a:r>
                        <a:rPr lang="zh-TW" altLang="en-US" sz="1200" dirty="0" smtClean="0"/>
                        <a:t>接點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推車夾持氣缸</a:t>
                      </a:r>
                      <a:endParaRPr lang="en-US" altLang="zh-TW" sz="12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Clasper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夾持手推台車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常態：夾持</a:t>
                      </a:r>
                      <a:endParaRPr lang="en-US" altLang="zh-TW" sz="12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407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閘門氣缸</a:t>
                      </a:r>
                      <a:endParaRPr lang="en-US" altLang="zh-TW" sz="12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Gate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控制閘門開關，關閉閘門時可作為手推台車內板子推出位置的基準面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常態：關閉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68157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UI</a:t>
                      </a:r>
                      <a:endParaRPr lang="zh-TW" altLang="en-US" sz="1200" dirty="0"/>
                    </a:p>
                  </a:txBody>
                  <a:tcPr vert="ea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8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推車狀態警示燈</a:t>
                      </a:r>
                      <a:endParaRPr lang="en-US" altLang="zh-TW" sz="12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無亮燈：手推台車未推至定位</a:t>
                      </a:r>
                      <a:endParaRPr lang="en-US" altLang="zh-TW" sz="1200" dirty="0" smtClean="0"/>
                    </a:p>
                    <a:p>
                      <a:pPr algn="ctr"/>
                      <a:r>
                        <a:rPr lang="zh-TW" altLang="en-US" sz="1200" dirty="0" smtClean="0"/>
                        <a:t>有亮燈：手推台車有推至定位</a:t>
                      </a:r>
                      <a:endParaRPr lang="en-US" altLang="zh-TW" sz="1200" dirty="0" smtClean="0"/>
                    </a:p>
                    <a:p>
                      <a:pPr algn="ctr"/>
                      <a:r>
                        <a:rPr lang="zh-TW" altLang="en-US" sz="1200" dirty="0" smtClean="0"/>
                        <a:t>閃燈：提示需更換手推台車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4429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閘門氣缸按鈕</a:t>
                      </a:r>
                      <a:endParaRPr lang="en-US" altLang="zh-TW" sz="12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開啟閘門按鈕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969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/>
                        <a:t>10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推車夾持氣缸按鈕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/>
                        <a:t>夾持手推台車按鈕</a:t>
                      </a:r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1784835" y="1930941"/>
            <a:ext cx="363556" cy="374573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23" name="直線接點 22"/>
          <p:cNvCxnSpPr>
            <a:stCxn id="21" idx="1"/>
          </p:cNvCxnSpPr>
          <p:nvPr/>
        </p:nvCxnSpPr>
        <p:spPr>
          <a:xfrm flipH="1">
            <a:off x="10889558" y="2118228"/>
            <a:ext cx="895277" cy="75161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11784835" y="2507096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</a:t>
            </a:r>
            <a:endParaRPr lang="zh-TW" altLang="en-US" dirty="0"/>
          </a:p>
        </p:txBody>
      </p:sp>
      <p:cxnSp>
        <p:nvCxnSpPr>
          <p:cNvPr id="28" name="直線接點 27"/>
          <p:cNvCxnSpPr>
            <a:stCxn id="27" idx="1"/>
          </p:cNvCxnSpPr>
          <p:nvPr/>
        </p:nvCxnSpPr>
        <p:spPr>
          <a:xfrm flipH="1" flipV="1">
            <a:off x="10284178" y="2419542"/>
            <a:ext cx="1500657" cy="27222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10839332" y="792237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cxnSp>
        <p:nvCxnSpPr>
          <p:cNvPr id="32" name="直線接點 31"/>
          <p:cNvCxnSpPr>
            <a:stCxn id="31" idx="2"/>
          </p:cNvCxnSpPr>
          <p:nvPr/>
        </p:nvCxnSpPr>
        <p:spPr>
          <a:xfrm flipH="1">
            <a:off x="10435364" y="1161569"/>
            <a:ext cx="585746" cy="985065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9036401" y="806659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45" name="直線接點 44"/>
          <p:cNvCxnSpPr>
            <a:stCxn id="39" idx="2"/>
          </p:cNvCxnSpPr>
          <p:nvPr/>
        </p:nvCxnSpPr>
        <p:spPr>
          <a:xfrm flipH="1">
            <a:off x="9211920" y="1175991"/>
            <a:ext cx="6259" cy="41901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8922357" y="6275880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59" name="直線接點 58"/>
          <p:cNvCxnSpPr>
            <a:stCxn id="58" idx="0"/>
          </p:cNvCxnSpPr>
          <p:nvPr/>
        </p:nvCxnSpPr>
        <p:spPr>
          <a:xfrm flipV="1">
            <a:off x="9104135" y="4301067"/>
            <a:ext cx="1094221" cy="1974813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9399956" y="6275880"/>
            <a:ext cx="457721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10</a:t>
            </a:r>
            <a:endParaRPr lang="zh-TW" altLang="en-US" dirty="0"/>
          </a:p>
        </p:txBody>
      </p:sp>
      <p:cxnSp>
        <p:nvCxnSpPr>
          <p:cNvPr id="63" name="直線接點 62"/>
          <p:cNvCxnSpPr>
            <a:stCxn id="62" idx="0"/>
          </p:cNvCxnSpPr>
          <p:nvPr/>
        </p:nvCxnSpPr>
        <p:spPr>
          <a:xfrm flipV="1">
            <a:off x="9628817" y="4301068"/>
            <a:ext cx="655361" cy="1974812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1784835" y="3131102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8</a:t>
            </a:r>
            <a:endParaRPr lang="zh-TW" altLang="en-US" dirty="0"/>
          </a:p>
        </p:txBody>
      </p:sp>
      <p:cxnSp>
        <p:nvCxnSpPr>
          <p:cNvPr id="60" name="直線接點 59"/>
          <p:cNvCxnSpPr>
            <a:stCxn id="57" idx="1"/>
          </p:cNvCxnSpPr>
          <p:nvPr/>
        </p:nvCxnSpPr>
        <p:spPr>
          <a:xfrm flipH="1" flipV="1">
            <a:off x="10566400" y="3103293"/>
            <a:ext cx="1218435" cy="212475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11784835" y="3679332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cxnSp>
        <p:nvCxnSpPr>
          <p:cNvPr id="64" name="直線接點 63"/>
          <p:cNvCxnSpPr>
            <a:stCxn id="61" idx="1"/>
          </p:cNvCxnSpPr>
          <p:nvPr/>
        </p:nvCxnSpPr>
        <p:spPr>
          <a:xfrm flipH="1" flipV="1">
            <a:off x="9979379" y="3285076"/>
            <a:ext cx="1805456" cy="578922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11783678" y="4202118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67" name="直線接點 66"/>
          <p:cNvCxnSpPr>
            <a:stCxn id="66" idx="1"/>
          </p:cNvCxnSpPr>
          <p:nvPr/>
        </p:nvCxnSpPr>
        <p:spPr>
          <a:xfrm flipH="1" flipV="1">
            <a:off x="10130622" y="4202118"/>
            <a:ext cx="1653056" cy="184666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10130622" y="565372"/>
            <a:ext cx="435778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71" name="直線接點 70"/>
          <p:cNvCxnSpPr>
            <a:stCxn id="70" idx="2"/>
          </p:cNvCxnSpPr>
          <p:nvPr/>
        </p:nvCxnSpPr>
        <p:spPr>
          <a:xfrm>
            <a:off x="10348511" y="934704"/>
            <a:ext cx="29853" cy="41901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6445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Stage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297" y="784004"/>
            <a:ext cx="6824432" cy="552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720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432" y="1251157"/>
            <a:ext cx="4953003" cy="326055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Top stage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406777"/>
              </p:ext>
            </p:extLst>
          </p:nvPr>
        </p:nvGraphicFramePr>
        <p:xfrm>
          <a:off x="265825" y="732427"/>
          <a:ext cx="7869629" cy="3926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7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編號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中文名稱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英文名稱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用途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備註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前軌道板偵測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Front Track BIB Detector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偵測軌道上有無板</a:t>
                      </a:r>
                      <a:endParaRPr lang="en-US" altLang="zh-TW" sz="1400" dirty="0" smtClean="0"/>
                    </a:p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靠近手堆台車端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r>
                        <a:rPr lang="zh-TW" altLang="en-US" sz="1400" dirty="0" smtClean="0"/>
                        <a:t>接點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後軌道板偵測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Back Track BIB Detector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偵測軌道上有無板</a:t>
                      </a:r>
                      <a:endParaRPr lang="en-US" altLang="zh-TW" sz="1400" dirty="0" smtClean="0"/>
                    </a:p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靠近主機端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r>
                        <a:rPr lang="zh-TW" altLang="en-US" sz="1400" dirty="0" smtClean="0"/>
                        <a:t>接點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推車板偵測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Carrier BIB Detector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勾板前偵測手推台車內有無板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/>
                        <a:t>勾爪板偵測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Hook BIB Detector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勾板時偵測勾爪上有無板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讀碼器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Barcode Reader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讀取板子上的條碼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板號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 smtClean="0">
                          <a:solidFill>
                            <a:srgbClr val="FF0000"/>
                          </a:solidFill>
                        </a:rPr>
                        <a:t>採通訊型</a:t>
                      </a:r>
                      <a:r>
                        <a:rPr lang="en-US" altLang="zh-TW" sz="1400" b="1" dirty="0" smtClean="0">
                          <a:solidFill>
                            <a:srgbClr val="FF0000"/>
                          </a:solidFill>
                        </a:rPr>
                        <a:t>(RS-232)</a:t>
                      </a:r>
                      <a:endParaRPr lang="zh-TW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前勾爪汽缸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Front Hook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勾取板子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靠近手推台車端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常態在下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後勾爪汽缸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Back Hook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勾取板子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靠近主機端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常態在下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/>
                        <a:t>勾板馬達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Axis Y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移動勾爪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0714334" y="1748828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8" idx="2"/>
          </p:cNvCxnSpPr>
          <p:nvPr/>
        </p:nvCxnSpPr>
        <p:spPr>
          <a:xfrm flipH="1">
            <a:off x="10455439" y="2118160"/>
            <a:ext cx="440673" cy="448993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0624744" y="4381284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17" name="直線接點 16"/>
          <p:cNvCxnSpPr>
            <a:stCxn id="16" idx="0"/>
          </p:cNvCxnSpPr>
          <p:nvPr/>
        </p:nvCxnSpPr>
        <p:spPr>
          <a:xfrm flipV="1">
            <a:off x="10806522" y="3691341"/>
            <a:ext cx="386928" cy="689943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11581442" y="4424638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30" name="直線接點 29"/>
          <p:cNvCxnSpPr>
            <a:stCxn id="29" idx="0"/>
          </p:cNvCxnSpPr>
          <p:nvPr/>
        </p:nvCxnSpPr>
        <p:spPr>
          <a:xfrm flipH="1" flipV="1">
            <a:off x="11193450" y="3577438"/>
            <a:ext cx="569770" cy="84720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1639240" y="2567153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14" name="直線接點 13"/>
          <p:cNvCxnSpPr>
            <a:stCxn id="13" idx="2"/>
          </p:cNvCxnSpPr>
          <p:nvPr/>
        </p:nvCxnSpPr>
        <p:spPr>
          <a:xfrm>
            <a:off x="11821018" y="2936485"/>
            <a:ext cx="3700" cy="26202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10091883" y="4382129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  <p:cxnSp>
        <p:nvCxnSpPr>
          <p:cNvPr id="21" name="直線接點 20"/>
          <p:cNvCxnSpPr>
            <a:stCxn id="20" idx="0"/>
          </p:cNvCxnSpPr>
          <p:nvPr/>
        </p:nvCxnSpPr>
        <p:spPr>
          <a:xfrm flipV="1">
            <a:off x="10273661" y="3616515"/>
            <a:ext cx="465246" cy="765614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8964111" y="4147157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24" name="直線接點 23"/>
          <p:cNvCxnSpPr>
            <a:stCxn id="23" idx="0"/>
          </p:cNvCxnSpPr>
          <p:nvPr/>
        </p:nvCxnSpPr>
        <p:spPr>
          <a:xfrm flipV="1">
            <a:off x="9145889" y="3197974"/>
            <a:ext cx="618085" cy="949183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9910105" y="967871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cxnSp>
        <p:nvCxnSpPr>
          <p:cNvPr id="27" name="直線接點 26"/>
          <p:cNvCxnSpPr>
            <a:stCxn id="26" idx="2"/>
          </p:cNvCxnSpPr>
          <p:nvPr/>
        </p:nvCxnSpPr>
        <p:spPr>
          <a:xfrm>
            <a:off x="10091883" y="1337203"/>
            <a:ext cx="0" cy="122995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9477222" y="971851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cxnSp>
        <p:nvCxnSpPr>
          <p:cNvPr id="28" name="直線接點 27"/>
          <p:cNvCxnSpPr>
            <a:stCxn id="25" idx="2"/>
          </p:cNvCxnSpPr>
          <p:nvPr/>
        </p:nvCxnSpPr>
        <p:spPr>
          <a:xfrm>
            <a:off x="9659000" y="1341183"/>
            <a:ext cx="0" cy="690082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8371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085" y="1215400"/>
            <a:ext cx="4386609" cy="268567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Down stage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453670" y="935867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8" idx="2"/>
          </p:cNvCxnSpPr>
          <p:nvPr/>
        </p:nvCxnSpPr>
        <p:spPr>
          <a:xfrm>
            <a:off x="10635448" y="1305199"/>
            <a:ext cx="3700" cy="26202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1120622" y="3995946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17" name="直線接點 16"/>
          <p:cNvCxnSpPr>
            <a:stCxn id="16" idx="0"/>
          </p:cNvCxnSpPr>
          <p:nvPr/>
        </p:nvCxnSpPr>
        <p:spPr>
          <a:xfrm flipV="1">
            <a:off x="11302400" y="3438937"/>
            <a:ext cx="4112" cy="557009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1687560" y="2080256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14" name="直線接點 13"/>
          <p:cNvCxnSpPr>
            <a:stCxn id="13" idx="2"/>
          </p:cNvCxnSpPr>
          <p:nvPr/>
        </p:nvCxnSpPr>
        <p:spPr>
          <a:xfrm>
            <a:off x="11869338" y="2449588"/>
            <a:ext cx="3700" cy="262020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10091883" y="3976750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21" name="直線接點 20"/>
          <p:cNvCxnSpPr>
            <a:stCxn id="20" idx="0"/>
          </p:cNvCxnSpPr>
          <p:nvPr/>
        </p:nvCxnSpPr>
        <p:spPr>
          <a:xfrm flipV="1">
            <a:off x="10273661" y="3211136"/>
            <a:ext cx="465246" cy="765614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9059032" y="3438937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</a:t>
            </a:r>
            <a:endParaRPr lang="zh-TW" altLang="en-US" dirty="0"/>
          </a:p>
        </p:txBody>
      </p:sp>
      <p:cxnSp>
        <p:nvCxnSpPr>
          <p:cNvPr id="24" name="直線接點 23"/>
          <p:cNvCxnSpPr>
            <a:stCxn id="23" idx="0"/>
          </p:cNvCxnSpPr>
          <p:nvPr/>
        </p:nvCxnSpPr>
        <p:spPr>
          <a:xfrm flipV="1">
            <a:off x="9240810" y="2489754"/>
            <a:ext cx="618085" cy="949183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9728327" y="935867"/>
            <a:ext cx="363556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cxnSp>
        <p:nvCxnSpPr>
          <p:cNvPr id="27" name="直線接點 26"/>
          <p:cNvCxnSpPr>
            <a:stCxn id="26" idx="2"/>
          </p:cNvCxnSpPr>
          <p:nvPr/>
        </p:nvCxnSpPr>
        <p:spPr>
          <a:xfrm>
            <a:off x="9910105" y="1305199"/>
            <a:ext cx="0" cy="385596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內容版面配置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0029214"/>
              </p:ext>
            </p:extLst>
          </p:nvPr>
        </p:nvGraphicFramePr>
        <p:xfrm>
          <a:off x="265825" y="732427"/>
          <a:ext cx="7869629" cy="3037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7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編號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中文名稱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英文名稱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用途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備註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前軌道板偵測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Front Track BIB Detector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偵測軌道上有無板</a:t>
                      </a:r>
                      <a:endParaRPr lang="en-US" altLang="zh-TW" sz="1400" dirty="0" smtClean="0"/>
                    </a:p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靠近手堆台車端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r>
                        <a:rPr lang="zh-TW" altLang="en-US" sz="1400" dirty="0" smtClean="0"/>
                        <a:t>接點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後軌道板偵測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Back Track BIB Detector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偵測軌道上有無板</a:t>
                      </a:r>
                      <a:endParaRPr lang="en-US" altLang="zh-TW" sz="1400" dirty="0" smtClean="0"/>
                    </a:p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靠近主機端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r>
                        <a:rPr lang="zh-TW" altLang="en-US" sz="1400" dirty="0" smtClean="0"/>
                        <a:t>接點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/>
                        <a:t>勾爪板偵測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Hook BIB Detector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勾板時偵測勾爪上有無板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前勾爪汽缸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Front Hook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勾取板子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靠近手推台車端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常態在下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後勾爪汽缸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Back Hook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勾取板子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zh-TW" altLang="en-US" sz="1400" dirty="0" smtClean="0"/>
                        <a:t>靠近主機端</a:t>
                      </a:r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常態在下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/>
                        <a:t>勾板馬達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Axis Y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移動勾爪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767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6000" b="1" dirty="0" smtClean="0"/>
              <a:t>SOFTWARE</a:t>
            </a:r>
            <a:endParaRPr lang="zh-TW" altLang="en-US" sz="6000" b="1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Component – level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JTimer</a:t>
            </a:r>
            <a:endParaRPr lang="en-US" altLang="zh-TW" dirty="0" smtClean="0"/>
          </a:p>
          <a:p>
            <a:r>
              <a:rPr lang="en-US" altLang="zh-TW" dirty="0" err="1" smtClean="0"/>
              <a:t>JInBit</a:t>
            </a:r>
            <a:endParaRPr lang="en-US" altLang="zh-TW" dirty="0" smtClean="0"/>
          </a:p>
          <a:p>
            <a:r>
              <a:rPr lang="en-US" altLang="zh-TW" dirty="0" err="1"/>
              <a:t>J</a:t>
            </a:r>
            <a:r>
              <a:rPr lang="en-US" altLang="zh-TW" dirty="0" err="1" smtClean="0"/>
              <a:t>OutBit</a:t>
            </a:r>
            <a:endParaRPr lang="en-US" altLang="zh-TW" dirty="0" smtClean="0"/>
          </a:p>
          <a:p>
            <a:r>
              <a:rPr lang="en-US" altLang="zh-TW" dirty="0" err="1" smtClean="0"/>
              <a:t>TMotor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2" y="2095500"/>
            <a:ext cx="570547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93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omponent – level 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JCylinder</a:t>
            </a:r>
            <a:endParaRPr lang="en-US" altLang="zh-TW" dirty="0" smtClean="0"/>
          </a:p>
          <a:p>
            <a:r>
              <a:rPr lang="en-US" altLang="zh-TW" dirty="0" err="1" smtClean="0"/>
              <a:t>JVacuum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605087"/>
            <a:ext cx="48768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371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omponent – level 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Carrier</a:t>
            </a:r>
          </a:p>
          <a:p>
            <a:pPr lvl="1"/>
            <a:r>
              <a:rPr lang="en-US" altLang="zh-TW" dirty="0"/>
              <a:t>Cassette Info</a:t>
            </a:r>
            <a:endParaRPr lang="zh-TW" altLang="en-US" dirty="0"/>
          </a:p>
          <a:p>
            <a:r>
              <a:rPr lang="en-US" altLang="zh-TW" dirty="0" smtClean="0"/>
              <a:t>Elevator </a:t>
            </a:r>
            <a:r>
              <a:rPr lang="en-US" altLang="zh-TW" dirty="0"/>
              <a:t>(Z)</a:t>
            </a:r>
          </a:p>
          <a:p>
            <a:r>
              <a:rPr lang="en-US" altLang="zh-TW" dirty="0" smtClean="0"/>
              <a:t>Transfer </a:t>
            </a:r>
            <a:r>
              <a:rPr lang="en-US" altLang="zh-TW" dirty="0"/>
              <a:t>(Y)</a:t>
            </a:r>
          </a:p>
          <a:p>
            <a:pPr lvl="1"/>
            <a:r>
              <a:rPr lang="en-US" altLang="zh-TW" dirty="0"/>
              <a:t>Top Stage</a:t>
            </a:r>
          </a:p>
          <a:p>
            <a:pPr lvl="1"/>
            <a:r>
              <a:rPr lang="en-US" altLang="zh-TW" dirty="0"/>
              <a:t>Down </a:t>
            </a:r>
            <a:r>
              <a:rPr lang="en-US" altLang="zh-TW" dirty="0" smtClean="0"/>
              <a:t>Stage</a:t>
            </a:r>
            <a:endParaRPr lang="en-US" altLang="zh-TW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017" y="726164"/>
            <a:ext cx="793293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52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BIB Exchanger module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0148" y="711200"/>
            <a:ext cx="8051703" cy="543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652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JCassetteInfo</a:t>
            </a:r>
            <a:r>
              <a:rPr lang="zh-TW" altLang="en-US" dirty="0" smtClean="0"/>
              <a:t> </a:t>
            </a:r>
            <a:r>
              <a:rPr lang="en-US" altLang="zh-TW" dirty="0" smtClean="0"/>
              <a:t>Class Diagram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687" y="1532731"/>
            <a:ext cx="95726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1356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JCarrier</a:t>
            </a:r>
            <a:r>
              <a:rPr lang="en-US" altLang="zh-TW" dirty="0" smtClean="0"/>
              <a:t> Class Diagram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025" y="870744"/>
            <a:ext cx="4552950" cy="50768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387" y="1000125"/>
            <a:ext cx="454342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3771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JCarrier</a:t>
            </a:r>
            <a:r>
              <a:rPr lang="en-US" altLang="zh-TW" dirty="0" smtClean="0"/>
              <a:t> Description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1" y="729000"/>
            <a:ext cx="10648949" cy="5399999"/>
          </a:xfrm>
        </p:spPr>
        <p:txBody>
          <a:bodyPr>
            <a:noAutofit/>
          </a:bodyPr>
          <a:lstStyle/>
          <a:p>
            <a:r>
              <a:rPr lang="en-US" altLang="zh-TW" sz="1100" dirty="0"/>
              <a:t>bool </a:t>
            </a:r>
            <a:r>
              <a:rPr lang="en-US" altLang="zh-TW" sz="1100" dirty="0" err="1" smtClean="0"/>
              <a:t>DryRun</a:t>
            </a:r>
            <a:r>
              <a:rPr lang="zh-TW" altLang="en-US" sz="1100" dirty="0" smtClean="0"/>
              <a:t>：</a:t>
            </a:r>
            <a:r>
              <a:rPr lang="zh-TW" altLang="en-US" sz="1100" dirty="0"/>
              <a:t>讀取或設定</a:t>
            </a:r>
            <a:r>
              <a:rPr lang="zh-TW" altLang="en-US" sz="1100" dirty="0" smtClean="0"/>
              <a:t>空跑模式。</a:t>
            </a:r>
            <a:endParaRPr lang="en-US" altLang="zh-TW" sz="1100" dirty="0"/>
          </a:p>
          <a:p>
            <a:r>
              <a:rPr lang="en-US" altLang="zh-TW" sz="1100" dirty="0" err="1" smtClean="0"/>
              <a:t>int</a:t>
            </a:r>
            <a:r>
              <a:rPr lang="en-US" altLang="zh-TW" sz="1100" dirty="0" smtClean="0"/>
              <a:t> </a:t>
            </a:r>
            <a:r>
              <a:rPr lang="en-US" altLang="zh-TW" sz="1100" dirty="0" err="1" smtClean="0"/>
              <a:t>CarrierType</a:t>
            </a:r>
            <a:r>
              <a:rPr lang="zh-TW" altLang="en-US" sz="1100" dirty="0" smtClean="0"/>
              <a:t>：</a:t>
            </a:r>
            <a:r>
              <a:rPr lang="zh-TW" altLang="en-US" sz="1100" dirty="0"/>
              <a:t>讀取或</a:t>
            </a:r>
            <a:r>
              <a:rPr lang="zh-TW" altLang="en-US" sz="1100" dirty="0" smtClean="0"/>
              <a:t>設定</a:t>
            </a:r>
            <a:r>
              <a:rPr lang="zh-TW" altLang="en-US" sz="1100" dirty="0"/>
              <a:t>推</a:t>
            </a:r>
            <a:r>
              <a:rPr lang="zh-TW" altLang="en-US" sz="1100" dirty="0" smtClean="0"/>
              <a:t>車樣式。</a:t>
            </a:r>
            <a:endParaRPr lang="en-US" altLang="zh-TW" sz="1100" dirty="0" smtClean="0"/>
          </a:p>
          <a:p>
            <a:r>
              <a:rPr lang="en-US" altLang="zh-TW" sz="1100" dirty="0" smtClean="0"/>
              <a:t>bool </a:t>
            </a:r>
            <a:r>
              <a:rPr lang="en-US" altLang="zh-TW" sz="1100" dirty="0" err="1" smtClean="0"/>
              <a:t>IsCarrierExchange</a:t>
            </a:r>
            <a:r>
              <a:rPr lang="zh-TW" altLang="en-US" sz="1100" dirty="0" smtClean="0"/>
              <a:t>：讀取或設定是否更換</a:t>
            </a:r>
            <a:r>
              <a:rPr lang="zh-TW" altLang="en-US" sz="1100" dirty="0"/>
              <a:t>推</a:t>
            </a:r>
            <a:r>
              <a:rPr lang="zh-TW" altLang="en-US" sz="1100" dirty="0" smtClean="0"/>
              <a:t>車。</a:t>
            </a:r>
            <a:endParaRPr lang="en-US" altLang="zh-TW" sz="1100" dirty="0" smtClean="0"/>
          </a:p>
          <a:p>
            <a:r>
              <a:rPr lang="en-US" altLang="zh-TW" sz="1100" dirty="0"/>
              <a:t>bool </a:t>
            </a:r>
            <a:r>
              <a:rPr lang="en-US" altLang="zh-TW" sz="1100" dirty="0" err="1" smtClean="0"/>
              <a:t>IsCarrierReady</a:t>
            </a:r>
            <a:r>
              <a:rPr lang="zh-TW" altLang="en-US" sz="1100" dirty="0" smtClean="0"/>
              <a:t>：</a:t>
            </a:r>
            <a:r>
              <a:rPr lang="zh-TW" altLang="en-US" sz="1100" dirty="0"/>
              <a:t>讀取或</a:t>
            </a:r>
            <a:r>
              <a:rPr lang="zh-TW" altLang="en-US" sz="1100" dirty="0" smtClean="0"/>
              <a:t>設定是否</a:t>
            </a:r>
            <a:r>
              <a:rPr lang="zh-TW" altLang="en-US" sz="1100" dirty="0"/>
              <a:t>推</a:t>
            </a:r>
            <a:r>
              <a:rPr lang="zh-TW" altLang="en-US" sz="1100" dirty="0" smtClean="0"/>
              <a:t>車</a:t>
            </a:r>
            <a:r>
              <a:rPr lang="en-US" altLang="zh-TW" sz="1100" dirty="0" smtClean="0"/>
              <a:t>Ready</a:t>
            </a:r>
            <a:r>
              <a:rPr lang="zh-TW" altLang="en-US" sz="1100" dirty="0" smtClean="0"/>
              <a:t>。</a:t>
            </a:r>
            <a:endParaRPr lang="en-US" altLang="zh-TW" sz="1100" dirty="0" smtClean="0"/>
          </a:p>
          <a:p>
            <a:r>
              <a:rPr lang="en-US" altLang="zh-TW" sz="1100" dirty="0" err="1" smtClean="0"/>
              <a:t>int</a:t>
            </a:r>
            <a:r>
              <a:rPr lang="en-US" altLang="zh-TW" sz="1100" dirty="0"/>
              <a:t> </a:t>
            </a:r>
            <a:r>
              <a:rPr lang="en-US" altLang="zh-TW" sz="1100" dirty="0" err="1" smtClean="0"/>
              <a:t>DetectCarrierType</a:t>
            </a:r>
            <a:r>
              <a:rPr lang="en-US" altLang="zh-TW" sz="1100" dirty="0" smtClean="0"/>
              <a:t>()</a:t>
            </a:r>
            <a:r>
              <a:rPr lang="zh-TW" altLang="en-US" sz="1100" dirty="0" smtClean="0"/>
              <a:t>：偵測</a:t>
            </a:r>
            <a:r>
              <a:rPr lang="zh-TW" altLang="en-US" sz="1100" dirty="0"/>
              <a:t>推</a:t>
            </a:r>
            <a:r>
              <a:rPr lang="zh-TW" altLang="en-US" sz="1100" dirty="0" smtClean="0"/>
              <a:t>車樣式。</a:t>
            </a:r>
            <a:r>
              <a:rPr lang="en-US" altLang="zh-TW" sz="1100" dirty="0" smtClean="0"/>
              <a:t>(Detect by sensor)</a:t>
            </a:r>
          </a:p>
          <a:p>
            <a:pPr lvl="1"/>
            <a:r>
              <a:rPr lang="zh-TW" altLang="en-US" sz="1100" dirty="0" smtClean="0"/>
              <a:t>回傳值 </a:t>
            </a:r>
            <a:r>
              <a:rPr lang="en-US" altLang="zh-TW" sz="1100" dirty="0" smtClean="0"/>
              <a:t>0 </a:t>
            </a:r>
            <a:r>
              <a:rPr lang="en-US" altLang="zh-TW" sz="1100" dirty="0"/>
              <a:t>: </a:t>
            </a:r>
            <a:r>
              <a:rPr lang="zh-TW" altLang="en-US" sz="1100" dirty="0"/>
              <a:t>推車樣式偵測 </a:t>
            </a:r>
            <a:r>
              <a:rPr lang="en-US" altLang="zh-TW" sz="1100" dirty="0"/>
              <a:t>Sensor A OFF, B OFF</a:t>
            </a:r>
            <a:endParaRPr lang="en-US" altLang="zh-TW" sz="1100" dirty="0" smtClean="0"/>
          </a:p>
          <a:p>
            <a:r>
              <a:rPr lang="en-US" altLang="zh-TW" sz="1100" dirty="0"/>
              <a:t>bool </a:t>
            </a:r>
            <a:r>
              <a:rPr lang="en-US" altLang="zh-TW" sz="1100" dirty="0" err="1" smtClean="0"/>
              <a:t>CheckCarrierType</a:t>
            </a:r>
            <a:r>
              <a:rPr lang="en-US" altLang="zh-TW" sz="1100" dirty="0" smtClean="0"/>
              <a:t>()</a:t>
            </a:r>
            <a:r>
              <a:rPr lang="zh-TW" altLang="en-US" sz="1100" dirty="0" smtClean="0"/>
              <a:t>：檢查推車樣式是否正確。</a:t>
            </a:r>
            <a:endParaRPr lang="en-US" altLang="zh-TW" sz="1100" dirty="0"/>
          </a:p>
          <a:p>
            <a:r>
              <a:rPr lang="en-US" altLang="zh-TW" sz="1100" dirty="0" smtClean="0"/>
              <a:t>void </a:t>
            </a:r>
            <a:r>
              <a:rPr lang="en-US" altLang="zh-TW" sz="1100" dirty="0" err="1" smtClean="0"/>
              <a:t>SetCarrierInfo</a:t>
            </a:r>
            <a:r>
              <a:rPr lang="en-US" altLang="zh-TW" sz="1100" dirty="0" smtClean="0"/>
              <a:t>(n1, n2, pitch, gap)</a:t>
            </a:r>
          </a:p>
          <a:p>
            <a:pPr lvl="1"/>
            <a:r>
              <a:rPr lang="zh-TW" altLang="en-US" sz="1100" dirty="0" smtClean="0"/>
              <a:t>設定推車資訊</a:t>
            </a:r>
            <a:r>
              <a:rPr lang="en-US" altLang="zh-TW" sz="1100" dirty="0" smtClean="0"/>
              <a:t>, n1 : </a:t>
            </a:r>
            <a:r>
              <a:rPr lang="zh-TW" altLang="en-US" sz="1100" dirty="0" smtClean="0"/>
              <a:t>第一層</a:t>
            </a:r>
            <a:r>
              <a:rPr lang="en-US" altLang="zh-TW" sz="1100" dirty="0" smtClean="0"/>
              <a:t>(</a:t>
            </a:r>
            <a:r>
              <a:rPr lang="zh-TW" altLang="en-US" sz="1100" dirty="0" smtClean="0"/>
              <a:t>最下層</a:t>
            </a:r>
            <a:r>
              <a:rPr lang="en-US" altLang="zh-TW" sz="1100" dirty="0" smtClean="0"/>
              <a:t>)</a:t>
            </a:r>
            <a:r>
              <a:rPr lang="zh-TW" altLang="en-US" sz="1100" dirty="0" smtClean="0"/>
              <a:t>層數</a:t>
            </a:r>
            <a:r>
              <a:rPr lang="en-US" altLang="zh-TW" sz="1100" dirty="0" smtClean="0"/>
              <a:t>, n2 : </a:t>
            </a:r>
            <a:r>
              <a:rPr lang="zh-TW" altLang="en-US" sz="1100" dirty="0" smtClean="0"/>
              <a:t>第二層層數</a:t>
            </a:r>
            <a:r>
              <a:rPr lang="en-US" altLang="zh-TW" sz="1100" dirty="0" smtClean="0"/>
              <a:t>, pitch : </a:t>
            </a:r>
            <a:r>
              <a:rPr lang="zh-TW" altLang="en-US" sz="1100" dirty="0" smtClean="0"/>
              <a:t>層與層間距</a:t>
            </a:r>
            <a:r>
              <a:rPr lang="en-US" altLang="zh-TW" sz="1100" dirty="0" smtClean="0"/>
              <a:t>, gap : </a:t>
            </a:r>
            <a:r>
              <a:rPr lang="zh-TW" altLang="en-US" sz="1100" dirty="0" smtClean="0"/>
              <a:t>第一層與第二層間距</a:t>
            </a:r>
            <a:r>
              <a:rPr lang="en-US" altLang="zh-TW" sz="1100" dirty="0" smtClean="0"/>
              <a:t>(</a:t>
            </a:r>
            <a:r>
              <a:rPr lang="zh-TW" altLang="en-US" sz="1100" dirty="0" smtClean="0"/>
              <a:t>不包含 </a:t>
            </a:r>
            <a:r>
              <a:rPr lang="en-US" altLang="zh-TW" sz="1100" dirty="0" smtClean="0"/>
              <a:t>pitch).</a:t>
            </a:r>
          </a:p>
          <a:p>
            <a:r>
              <a:rPr lang="en-US" altLang="zh-TW" sz="1100" dirty="0"/>
              <a:t>b</a:t>
            </a:r>
            <a:r>
              <a:rPr lang="en-US" altLang="zh-TW" sz="1100" dirty="0" smtClean="0"/>
              <a:t>ool </a:t>
            </a:r>
            <a:r>
              <a:rPr lang="en-US" altLang="zh-TW" sz="1100" dirty="0" err="1" smtClean="0"/>
              <a:t>ResetSlotStatus</a:t>
            </a:r>
            <a:r>
              <a:rPr lang="en-US" altLang="zh-TW" sz="1100" dirty="0" smtClean="0"/>
              <a:t>(status)</a:t>
            </a:r>
          </a:p>
          <a:p>
            <a:pPr lvl="1"/>
            <a:r>
              <a:rPr lang="zh-TW" altLang="en-US" sz="1100" dirty="0" smtClean="0"/>
              <a:t>重置推車所有 </a:t>
            </a:r>
            <a:r>
              <a:rPr lang="en-US" altLang="zh-TW" sz="1100" dirty="0" smtClean="0"/>
              <a:t>slot </a:t>
            </a:r>
            <a:r>
              <a:rPr lang="zh-TW" altLang="en-US" sz="1100" dirty="0" smtClean="0"/>
              <a:t>狀態為 </a:t>
            </a:r>
            <a:r>
              <a:rPr lang="en-US" altLang="zh-TW" sz="1100" dirty="0" smtClean="0"/>
              <a:t>status, </a:t>
            </a:r>
            <a:r>
              <a:rPr lang="zh-TW" altLang="en-US" sz="1100" dirty="0" smtClean="0"/>
              <a:t>成功回傳 </a:t>
            </a:r>
            <a:r>
              <a:rPr lang="en-US" altLang="zh-TW" sz="1100" dirty="0" smtClean="0"/>
              <a:t>true, </a:t>
            </a:r>
            <a:r>
              <a:rPr lang="zh-TW" altLang="en-US" sz="1100" dirty="0" smtClean="0"/>
              <a:t>失敗回傳 </a:t>
            </a:r>
            <a:r>
              <a:rPr lang="en-US" altLang="zh-TW" sz="1100" dirty="0" smtClean="0"/>
              <a:t>false. </a:t>
            </a:r>
          </a:p>
          <a:p>
            <a:r>
              <a:rPr lang="en-US" altLang="zh-TW" sz="1100" dirty="0" smtClean="0"/>
              <a:t>bool </a:t>
            </a:r>
            <a:r>
              <a:rPr lang="en-US" altLang="zh-TW" sz="1100" dirty="0" err="1" smtClean="0"/>
              <a:t>SetSlotStatus</a:t>
            </a:r>
            <a:r>
              <a:rPr lang="en-US" altLang="zh-TW" sz="1100" dirty="0" smtClean="0"/>
              <a:t>(slot, status)</a:t>
            </a:r>
          </a:p>
          <a:p>
            <a:pPr lvl="1"/>
            <a:r>
              <a:rPr lang="zh-TW" altLang="en-US" sz="1100" dirty="0" smtClean="0"/>
              <a:t>設定推車指定 </a:t>
            </a:r>
            <a:r>
              <a:rPr lang="en-US" altLang="zh-TW" sz="1100" dirty="0" smtClean="0"/>
              <a:t>slot </a:t>
            </a:r>
            <a:r>
              <a:rPr lang="zh-TW" altLang="en-US" sz="1100" dirty="0" smtClean="0"/>
              <a:t>狀態為 </a:t>
            </a:r>
            <a:r>
              <a:rPr lang="en-US" altLang="zh-TW" sz="1100" dirty="0" smtClean="0"/>
              <a:t>status</a:t>
            </a:r>
            <a:r>
              <a:rPr lang="en-US" altLang="zh-TW" sz="1100" dirty="0"/>
              <a:t> , </a:t>
            </a:r>
            <a:r>
              <a:rPr lang="zh-TW" altLang="en-US" sz="1100" dirty="0"/>
              <a:t>成功回傳 </a:t>
            </a:r>
            <a:r>
              <a:rPr lang="en-US" altLang="zh-TW" sz="1100" dirty="0"/>
              <a:t>true, </a:t>
            </a:r>
            <a:r>
              <a:rPr lang="zh-TW" altLang="en-US" sz="1100" dirty="0"/>
              <a:t>失敗回傳 </a:t>
            </a:r>
            <a:r>
              <a:rPr lang="en-US" altLang="zh-TW" sz="1100" dirty="0"/>
              <a:t>false.</a:t>
            </a:r>
            <a:endParaRPr lang="en-US" altLang="zh-TW" sz="1100" dirty="0" smtClean="0"/>
          </a:p>
          <a:p>
            <a:r>
              <a:rPr lang="en-US" altLang="zh-TW" sz="1100" dirty="0" err="1" smtClean="0"/>
              <a:t>int</a:t>
            </a:r>
            <a:r>
              <a:rPr lang="en-US" altLang="zh-TW" sz="1100" dirty="0" smtClean="0"/>
              <a:t> </a:t>
            </a:r>
            <a:r>
              <a:rPr lang="en-US" altLang="zh-TW" sz="1100" dirty="0" err="1" smtClean="0"/>
              <a:t>GetSlotNo</a:t>
            </a:r>
            <a:r>
              <a:rPr lang="en-US" altLang="zh-TW" sz="1100" dirty="0" smtClean="0"/>
              <a:t>(status, increasing)</a:t>
            </a:r>
          </a:p>
          <a:p>
            <a:pPr lvl="1"/>
            <a:r>
              <a:rPr lang="zh-TW" altLang="en-US" sz="1100" dirty="0" smtClean="0"/>
              <a:t>搜</a:t>
            </a:r>
            <a:r>
              <a:rPr lang="zh-TW" altLang="en-US" sz="1100" dirty="0"/>
              <a:t>尋</a:t>
            </a:r>
            <a:r>
              <a:rPr lang="zh-TW" altLang="en-US" sz="1100" dirty="0" smtClean="0"/>
              <a:t>推車各 </a:t>
            </a:r>
            <a:r>
              <a:rPr lang="en-US" altLang="zh-TW" sz="1100" dirty="0" smtClean="0"/>
              <a:t>slot</a:t>
            </a:r>
            <a:r>
              <a:rPr lang="zh-TW" altLang="en-US" sz="1100" dirty="0" smtClean="0"/>
              <a:t> 符合 </a:t>
            </a:r>
            <a:r>
              <a:rPr lang="en-US" altLang="zh-TW" sz="1100" dirty="0" smtClean="0"/>
              <a:t>status </a:t>
            </a:r>
            <a:r>
              <a:rPr lang="zh-TW" altLang="en-US" sz="1100" dirty="0" smtClean="0"/>
              <a:t>狀態的層數</a:t>
            </a:r>
            <a:r>
              <a:rPr lang="en-US" altLang="zh-TW" sz="1100" dirty="0" smtClean="0"/>
              <a:t>, increasing </a:t>
            </a:r>
            <a:r>
              <a:rPr lang="zh-TW" altLang="en-US" sz="1100" dirty="0" smtClean="0"/>
              <a:t>設定為 </a:t>
            </a:r>
            <a:r>
              <a:rPr lang="en-US" altLang="zh-TW" sz="1100" dirty="0" smtClean="0"/>
              <a:t>true </a:t>
            </a:r>
            <a:r>
              <a:rPr lang="zh-TW" altLang="en-US" sz="1100" dirty="0" smtClean="0"/>
              <a:t>則由下而上搜尋</a:t>
            </a:r>
            <a:r>
              <a:rPr lang="en-US" altLang="zh-TW" sz="1100" dirty="0" smtClean="0"/>
              <a:t>, </a:t>
            </a:r>
            <a:r>
              <a:rPr lang="zh-TW" altLang="en-US" sz="1100" dirty="0" smtClean="0"/>
              <a:t>設定為 </a:t>
            </a:r>
            <a:r>
              <a:rPr lang="en-US" altLang="zh-TW" sz="1100" dirty="0" smtClean="0"/>
              <a:t>false </a:t>
            </a:r>
            <a:r>
              <a:rPr lang="zh-TW" altLang="en-US" sz="1100" dirty="0" smtClean="0"/>
              <a:t>則由上而下搜尋</a:t>
            </a:r>
            <a:r>
              <a:rPr lang="en-US" altLang="zh-TW" sz="1100" dirty="0" smtClean="0"/>
              <a:t>, </a:t>
            </a:r>
            <a:r>
              <a:rPr lang="zh-TW" altLang="en-US" sz="1100" dirty="0" smtClean="0"/>
              <a:t>搜尋到則回傳該樓層值</a:t>
            </a:r>
            <a:r>
              <a:rPr lang="en-US" altLang="zh-TW" sz="1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 : </a:t>
            </a:r>
            <a:r>
              <a:rPr lang="zh-TW" altLang="en-US" sz="1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代表第一層</a:t>
            </a:r>
            <a:r>
              <a:rPr lang="en-US" altLang="zh-TW" sz="1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1 : </a:t>
            </a:r>
            <a:r>
              <a:rPr lang="zh-TW" altLang="en-US" sz="1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代表第二層</a:t>
            </a:r>
            <a:r>
              <a:rPr lang="en-US" altLang="zh-TW" sz="1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… </a:t>
            </a:r>
            <a:r>
              <a:rPr lang="zh-TW" altLang="en-US" sz="1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以此類推</a:t>
            </a:r>
            <a:r>
              <a:rPr lang="en-US" altLang="zh-TW" sz="1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altLang="zh-TW" sz="1100" dirty="0" smtClean="0"/>
              <a:t>, </a:t>
            </a:r>
            <a:r>
              <a:rPr lang="zh-TW" altLang="en-US" sz="1100" dirty="0" smtClean="0"/>
              <a:t>搜尋失敗則回傳 </a:t>
            </a:r>
            <a:r>
              <a:rPr lang="en-US" altLang="zh-TW" sz="1100" dirty="0" smtClean="0"/>
              <a:t>-1.</a:t>
            </a:r>
          </a:p>
          <a:p>
            <a:r>
              <a:rPr lang="en-US" altLang="zh-TW" sz="1100" dirty="0" err="1" smtClean="0"/>
              <a:t>int</a:t>
            </a:r>
            <a:r>
              <a:rPr lang="en-US" altLang="zh-TW" sz="1100" dirty="0" smtClean="0"/>
              <a:t> </a:t>
            </a:r>
            <a:r>
              <a:rPr lang="en-US" altLang="zh-TW" sz="1100" dirty="0" err="1" smtClean="0"/>
              <a:t>GetSlotHeight</a:t>
            </a:r>
            <a:r>
              <a:rPr lang="en-US" altLang="zh-TW" sz="1100" dirty="0" smtClean="0"/>
              <a:t>(slot)</a:t>
            </a:r>
          </a:p>
          <a:p>
            <a:pPr lvl="1"/>
            <a:r>
              <a:rPr lang="zh-TW" altLang="en-US" sz="1100" dirty="0" smtClean="0"/>
              <a:t>計算指定 </a:t>
            </a:r>
            <a:r>
              <a:rPr lang="en-US" altLang="zh-TW" sz="1100" dirty="0" smtClean="0"/>
              <a:t>slot </a:t>
            </a:r>
            <a:r>
              <a:rPr lang="zh-TW" altLang="en-US" sz="1100" dirty="0" smtClean="0"/>
              <a:t>樓層的高度</a:t>
            </a:r>
            <a:r>
              <a:rPr lang="en-US" altLang="zh-TW" sz="1100" dirty="0" smtClean="0"/>
              <a:t>.</a:t>
            </a:r>
            <a:endParaRPr lang="en-US" altLang="zh-TW" sz="1100" dirty="0"/>
          </a:p>
          <a:p>
            <a:r>
              <a:rPr lang="en-US" altLang="zh-TW" sz="1100" dirty="0"/>
              <a:t>void </a:t>
            </a:r>
            <a:r>
              <a:rPr lang="en-US" altLang="zh-TW" sz="1100" dirty="0" err="1"/>
              <a:t>TaskReset</a:t>
            </a:r>
            <a:r>
              <a:rPr lang="en-US" altLang="zh-TW" sz="1100" dirty="0"/>
              <a:t>()</a:t>
            </a:r>
            <a:r>
              <a:rPr lang="zh-TW" altLang="en-US" sz="1100" dirty="0"/>
              <a:t>：重置 </a:t>
            </a:r>
            <a:r>
              <a:rPr lang="en-US" altLang="zh-TW" sz="1100" dirty="0"/>
              <a:t>Task.</a:t>
            </a:r>
          </a:p>
          <a:p>
            <a:r>
              <a:rPr lang="en-US" altLang="zh-TW" sz="1100" dirty="0" err="1"/>
              <a:t>int</a:t>
            </a:r>
            <a:r>
              <a:rPr lang="en-US" altLang="zh-TW" sz="1100" dirty="0"/>
              <a:t> </a:t>
            </a:r>
            <a:r>
              <a:rPr lang="en-US" altLang="zh-TW" sz="1100" dirty="0" err="1"/>
              <a:t>ClaspCarrier</a:t>
            </a:r>
            <a:r>
              <a:rPr lang="en-US" altLang="zh-TW" sz="1100" dirty="0"/>
              <a:t>()</a:t>
            </a:r>
            <a:r>
              <a:rPr lang="zh-TW" altLang="en-US" sz="1100" dirty="0"/>
              <a:t>：夾持推車 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呼叫此函式前，記得先呼叫 </a:t>
            </a:r>
            <a:r>
              <a:rPr lang="en-US" altLang="zh-TW" sz="11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TaskReset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zh-TW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函式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r>
              <a:rPr lang="zh-TW" altLang="en-US" sz="1100" dirty="0"/>
              <a:t>回傳值：</a:t>
            </a:r>
            <a:r>
              <a:rPr lang="en-US" altLang="zh-TW" sz="1100" dirty="0"/>
              <a:t>1 : </a:t>
            </a:r>
            <a:r>
              <a:rPr lang="zh-TW" altLang="en-US" sz="1100" dirty="0"/>
              <a:t>完成</a:t>
            </a:r>
            <a:r>
              <a:rPr lang="en-US" altLang="zh-TW" sz="1100" dirty="0"/>
              <a:t>, 0 : </a:t>
            </a:r>
            <a:r>
              <a:rPr lang="zh-TW" altLang="en-US" sz="1100" dirty="0"/>
              <a:t>執行中</a:t>
            </a:r>
            <a:r>
              <a:rPr lang="en-US" altLang="zh-TW" sz="1100" dirty="0"/>
              <a:t>, -1 : </a:t>
            </a:r>
            <a:r>
              <a:rPr lang="zh-TW" altLang="en-US" sz="1100" dirty="0"/>
              <a:t>推車樣式錯誤，與設定不符</a:t>
            </a:r>
            <a:r>
              <a:rPr lang="en-US" altLang="zh-TW" sz="1100" dirty="0"/>
              <a:t>, -2 : </a:t>
            </a:r>
            <a:r>
              <a:rPr lang="zh-TW" altLang="en-US" sz="1100" dirty="0"/>
              <a:t>夾持氣缸動作逾時。</a:t>
            </a:r>
            <a:endParaRPr lang="en-US" altLang="zh-TW" sz="1100" dirty="0"/>
          </a:p>
          <a:p>
            <a:r>
              <a:rPr lang="en-US" altLang="zh-TW" sz="1100" dirty="0" err="1"/>
              <a:t>int</a:t>
            </a:r>
            <a:r>
              <a:rPr lang="en-US" altLang="zh-TW" sz="1100" dirty="0"/>
              <a:t> </a:t>
            </a:r>
            <a:r>
              <a:rPr lang="en-US" altLang="zh-TW" sz="1100" dirty="0" err="1"/>
              <a:t>ReleaseCarrier</a:t>
            </a:r>
            <a:r>
              <a:rPr lang="en-US" altLang="zh-TW" sz="1100" dirty="0"/>
              <a:t>()</a:t>
            </a:r>
            <a:r>
              <a:rPr lang="zh-TW" altLang="en-US" sz="1100" dirty="0"/>
              <a:t>：釋放推車 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呼叫此函式前，記得先呼叫 </a:t>
            </a:r>
            <a:r>
              <a:rPr lang="en-US" altLang="zh-TW" sz="11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TaskReset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zh-TW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函式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r>
              <a:rPr lang="zh-TW" altLang="en-US" sz="1100" dirty="0"/>
              <a:t>回傳值：</a:t>
            </a:r>
            <a:r>
              <a:rPr lang="en-US" altLang="zh-TW" sz="1100" dirty="0"/>
              <a:t>1 : </a:t>
            </a:r>
            <a:r>
              <a:rPr lang="zh-TW" altLang="en-US" sz="1100" dirty="0"/>
              <a:t>完成</a:t>
            </a:r>
            <a:r>
              <a:rPr lang="en-US" altLang="zh-TW" sz="1100" dirty="0"/>
              <a:t>, 0 : </a:t>
            </a:r>
            <a:r>
              <a:rPr lang="zh-TW" altLang="en-US" sz="1100" dirty="0"/>
              <a:t>執行中</a:t>
            </a:r>
            <a:r>
              <a:rPr lang="en-US" altLang="zh-TW" sz="1100" dirty="0"/>
              <a:t>, -1 :</a:t>
            </a:r>
            <a:r>
              <a:rPr lang="zh-TW" altLang="en-US" sz="1100" dirty="0"/>
              <a:t>推車內板子未放至定位</a:t>
            </a:r>
            <a:r>
              <a:rPr lang="en-US" altLang="zh-TW" sz="1100" dirty="0"/>
              <a:t>, -2 : </a:t>
            </a:r>
            <a:r>
              <a:rPr lang="zh-TW" altLang="en-US" sz="1100" dirty="0"/>
              <a:t>夾持氣缸動作逾時。</a:t>
            </a:r>
            <a:endParaRPr lang="en-US" altLang="zh-TW" sz="1100" dirty="0"/>
          </a:p>
          <a:p>
            <a:r>
              <a:rPr lang="en-US" altLang="zh-TW" sz="1100" dirty="0" err="1"/>
              <a:t>int</a:t>
            </a:r>
            <a:r>
              <a:rPr lang="en-US" altLang="zh-TW" sz="1100" dirty="0"/>
              <a:t> </a:t>
            </a:r>
            <a:r>
              <a:rPr lang="en-US" altLang="zh-TW" sz="1100" dirty="0" err="1"/>
              <a:t>CloseGate</a:t>
            </a:r>
            <a:r>
              <a:rPr lang="en-US" altLang="zh-TW" sz="1100" dirty="0"/>
              <a:t>()</a:t>
            </a:r>
            <a:r>
              <a:rPr lang="zh-TW" altLang="en-US" sz="1100" dirty="0"/>
              <a:t>：關閉閘門 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呼叫此函式前，記得先呼叫 </a:t>
            </a:r>
            <a:r>
              <a:rPr lang="en-US" altLang="zh-TW" sz="11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TaskReset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zh-TW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函式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r>
              <a:rPr lang="zh-TW" altLang="en-US" sz="1100" dirty="0"/>
              <a:t>回傳值：</a:t>
            </a:r>
            <a:r>
              <a:rPr lang="en-US" altLang="zh-TW" sz="1100" dirty="0"/>
              <a:t>1 : </a:t>
            </a:r>
            <a:r>
              <a:rPr lang="zh-TW" altLang="en-US" sz="1100" dirty="0"/>
              <a:t>完成</a:t>
            </a:r>
            <a:r>
              <a:rPr lang="en-US" altLang="zh-TW" sz="1100" dirty="0"/>
              <a:t>, 0 : </a:t>
            </a:r>
            <a:r>
              <a:rPr lang="zh-TW" altLang="en-US" sz="1100" dirty="0"/>
              <a:t>執行中</a:t>
            </a:r>
            <a:r>
              <a:rPr lang="en-US" altLang="zh-TW" sz="1100" dirty="0"/>
              <a:t>, -1 :</a:t>
            </a:r>
            <a:r>
              <a:rPr lang="zh-TW" altLang="en-US" sz="1100" dirty="0"/>
              <a:t>閘門處板子未至定位</a:t>
            </a:r>
            <a:r>
              <a:rPr lang="en-US" altLang="zh-TW" sz="1100" dirty="0"/>
              <a:t>, -2 :</a:t>
            </a:r>
            <a:r>
              <a:rPr lang="zh-TW" altLang="en-US" sz="1100" dirty="0"/>
              <a:t>閘門氣缸動作逾時。</a:t>
            </a:r>
            <a:endParaRPr lang="en-US" altLang="zh-TW" sz="1100" dirty="0"/>
          </a:p>
          <a:p>
            <a:r>
              <a:rPr lang="en-US" altLang="zh-TW" sz="1100" dirty="0" err="1"/>
              <a:t>int</a:t>
            </a:r>
            <a:r>
              <a:rPr lang="en-US" altLang="zh-TW" sz="1100" dirty="0"/>
              <a:t> </a:t>
            </a:r>
            <a:r>
              <a:rPr lang="en-US" altLang="zh-TW" sz="1100" dirty="0" err="1"/>
              <a:t>OpenGate</a:t>
            </a:r>
            <a:r>
              <a:rPr lang="en-US" altLang="zh-TW" sz="1100" dirty="0"/>
              <a:t>()</a:t>
            </a:r>
            <a:r>
              <a:rPr lang="zh-TW" altLang="en-US" sz="1100" dirty="0"/>
              <a:t>：開啟閘門 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呼叫此函式前，記得先呼叫 </a:t>
            </a:r>
            <a:r>
              <a:rPr lang="en-US" altLang="zh-TW" sz="11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TaskReset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zh-TW" altLang="en-US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函式</a:t>
            </a:r>
            <a:r>
              <a:rPr lang="en-US" altLang="zh-TW" sz="1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r>
              <a:rPr lang="zh-TW" altLang="en-US" sz="1100" dirty="0"/>
              <a:t>回傳值：</a:t>
            </a:r>
            <a:r>
              <a:rPr lang="en-US" altLang="zh-TW" sz="1100" dirty="0"/>
              <a:t>1 : </a:t>
            </a:r>
            <a:r>
              <a:rPr lang="zh-TW" altLang="en-US" sz="1100" dirty="0"/>
              <a:t>完成</a:t>
            </a:r>
            <a:r>
              <a:rPr lang="en-US" altLang="zh-TW" sz="1100" dirty="0"/>
              <a:t>, 0 : </a:t>
            </a:r>
            <a:r>
              <a:rPr lang="zh-TW" altLang="en-US" sz="1100" dirty="0"/>
              <a:t>執行中</a:t>
            </a:r>
            <a:r>
              <a:rPr lang="en-US" altLang="zh-TW" sz="1100" dirty="0"/>
              <a:t>, -1 :</a:t>
            </a:r>
            <a:r>
              <a:rPr lang="zh-TW" altLang="en-US" sz="1100" dirty="0"/>
              <a:t>閘門處板子未至定位</a:t>
            </a:r>
            <a:r>
              <a:rPr lang="en-US" altLang="zh-TW" sz="1100" dirty="0"/>
              <a:t>, -2 :</a:t>
            </a:r>
            <a:r>
              <a:rPr lang="zh-TW" altLang="en-US" sz="1100" dirty="0"/>
              <a:t>閘門氣缸動作逾時。</a:t>
            </a:r>
            <a:endParaRPr lang="en-US" altLang="zh-TW" sz="1100" dirty="0" smtClean="0"/>
          </a:p>
        </p:txBody>
      </p:sp>
    </p:spTree>
    <p:extLst>
      <p:ext uri="{BB962C8B-B14F-4D97-AF65-F5344CB8AC3E}">
        <p14:creationId xmlns:p14="http://schemas.microsoft.com/office/powerpoint/2010/main" val="7643557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JElevator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1" y="876301"/>
            <a:ext cx="6591299" cy="49149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BaseHeight</a:t>
            </a:r>
            <a:r>
              <a:rPr lang="zh-TW" altLang="en-US" dirty="0"/>
              <a:t>：上層平台對準推車第一層的高度</a:t>
            </a:r>
            <a:endParaRPr lang="en-US" altLang="zh-TW" dirty="0" smtClean="0"/>
          </a:p>
          <a:p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StagePitch</a:t>
            </a:r>
            <a:r>
              <a:rPr lang="zh-TW" altLang="en-US" dirty="0"/>
              <a:t>：上下層平台間距</a:t>
            </a:r>
            <a:endParaRPr lang="en-US" altLang="zh-TW" dirty="0" smtClean="0"/>
          </a:p>
          <a:p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DetectBIBHeightOffset</a:t>
            </a:r>
            <a:r>
              <a:rPr lang="zh-TW" altLang="en-US" dirty="0"/>
              <a:t>：偵測推車板子高度偏移量</a:t>
            </a:r>
            <a:r>
              <a:rPr lang="en-US" altLang="zh-TW" dirty="0"/>
              <a:t>(</a:t>
            </a:r>
            <a:r>
              <a:rPr lang="zh-TW" altLang="en-US" dirty="0"/>
              <a:t>以進出板高度為基準</a:t>
            </a:r>
            <a:r>
              <a:rPr lang="en-US" altLang="zh-TW" dirty="0"/>
              <a:t>)</a:t>
            </a:r>
            <a:endParaRPr lang="en-US" altLang="zh-TW" dirty="0" smtClean="0"/>
          </a:p>
          <a:p>
            <a:r>
              <a:rPr lang="en-US" altLang="zh-TW" dirty="0" smtClean="0"/>
              <a:t>bool </a:t>
            </a:r>
            <a:r>
              <a:rPr lang="en-US" altLang="zh-TW" dirty="0" err="1" smtClean="0"/>
              <a:t>SafetyProtection</a:t>
            </a:r>
            <a:r>
              <a:rPr lang="en-US" altLang="zh-TW" dirty="0" smtClean="0"/>
              <a:t>()</a:t>
            </a:r>
            <a:r>
              <a:rPr lang="zh-TW" altLang="en-US" dirty="0"/>
              <a:t>： </a:t>
            </a:r>
            <a:r>
              <a:rPr lang="en-US" altLang="zh-TW" dirty="0"/>
              <a:t>Z </a:t>
            </a:r>
            <a:r>
              <a:rPr lang="zh-TW" altLang="en-US" dirty="0"/>
              <a:t>軸安全保護偵測</a:t>
            </a:r>
            <a:r>
              <a:rPr lang="en-US" altLang="zh-TW" dirty="0"/>
              <a:t>(</a:t>
            </a:r>
            <a:r>
              <a:rPr lang="zh-TW" altLang="en-US" dirty="0"/>
              <a:t>回傳值：</a:t>
            </a:r>
            <a:r>
              <a:rPr lang="en-US" altLang="zh-TW" dirty="0"/>
              <a:t>true </a:t>
            </a:r>
            <a:r>
              <a:rPr lang="zh-TW" altLang="en-US" dirty="0"/>
              <a:t>代表安全，</a:t>
            </a:r>
            <a:r>
              <a:rPr lang="en-US" altLang="zh-TW" dirty="0"/>
              <a:t>false </a:t>
            </a:r>
            <a:r>
              <a:rPr lang="zh-TW" altLang="en-US" dirty="0"/>
              <a:t>代表不安全</a:t>
            </a:r>
            <a:r>
              <a:rPr lang="en-US" altLang="zh-TW" dirty="0"/>
              <a:t>)</a:t>
            </a:r>
            <a:endParaRPr lang="en-US" altLang="zh-TW" dirty="0" smtClean="0"/>
          </a:p>
          <a:p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GotoWorkingPosition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StageID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SlotHeight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：移動</a:t>
            </a:r>
            <a:r>
              <a:rPr lang="zh-TW" altLang="en-US" dirty="0"/>
              <a:t>至指定平台對準指定樓層之工作</a:t>
            </a:r>
            <a:r>
              <a:rPr lang="zh-TW" altLang="en-US" dirty="0" smtClean="0"/>
              <a:t>高度</a:t>
            </a:r>
            <a:endParaRPr lang="en-US" altLang="zh-TW" dirty="0"/>
          </a:p>
          <a:p>
            <a:pPr lvl="1"/>
            <a:r>
              <a:rPr lang="en-US" altLang="zh-TW" dirty="0" err="1"/>
              <a:t>StageID</a:t>
            </a:r>
            <a:r>
              <a:rPr lang="en-US" altLang="zh-TW" dirty="0"/>
              <a:t> : </a:t>
            </a:r>
            <a:r>
              <a:rPr lang="zh-TW" altLang="en-US" dirty="0"/>
              <a:t>上層平台為 </a:t>
            </a:r>
            <a:r>
              <a:rPr lang="en-US" altLang="zh-TW" dirty="0"/>
              <a:t>0</a:t>
            </a:r>
            <a:r>
              <a:rPr lang="zh-TW" altLang="en-US" dirty="0"/>
              <a:t>，下層平台為 </a:t>
            </a:r>
            <a:r>
              <a:rPr lang="en-US" altLang="zh-TW" dirty="0"/>
              <a:t>1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SlotHeight</a:t>
            </a:r>
            <a:r>
              <a:rPr lang="en-US" altLang="zh-TW" dirty="0" smtClean="0"/>
              <a:t> </a:t>
            </a:r>
            <a:r>
              <a:rPr lang="en-US" altLang="zh-TW" dirty="0"/>
              <a:t>: </a:t>
            </a:r>
            <a:r>
              <a:rPr lang="zh-TW" altLang="en-US" dirty="0"/>
              <a:t>推車工作樓層高度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回傳值 </a:t>
            </a:r>
            <a:r>
              <a:rPr lang="en-US" altLang="zh-TW" dirty="0" smtClean="0"/>
              <a:t>: 1 </a:t>
            </a:r>
            <a:r>
              <a:rPr lang="en-US" altLang="zh-TW" dirty="0"/>
              <a:t>: </a:t>
            </a:r>
            <a:r>
              <a:rPr lang="zh-TW" altLang="en-US" dirty="0"/>
              <a:t>移動</a:t>
            </a:r>
            <a:r>
              <a:rPr lang="zh-TW" altLang="en-US" dirty="0" smtClean="0"/>
              <a:t>完成</a:t>
            </a:r>
            <a:r>
              <a:rPr lang="en-US" altLang="zh-TW" dirty="0" smtClean="0"/>
              <a:t>, 0 </a:t>
            </a:r>
            <a:r>
              <a:rPr lang="en-US" altLang="zh-TW" dirty="0"/>
              <a:t>: </a:t>
            </a:r>
            <a:r>
              <a:rPr lang="zh-TW" altLang="en-US" dirty="0"/>
              <a:t>移動中</a:t>
            </a:r>
            <a:r>
              <a:rPr lang="en-US" altLang="zh-TW" dirty="0" smtClean="0"/>
              <a:t>..., -</a:t>
            </a:r>
            <a:r>
              <a:rPr lang="en-US" altLang="zh-TW" dirty="0"/>
              <a:t>1 : </a:t>
            </a:r>
            <a:r>
              <a:rPr lang="zh-TW" altLang="en-US" dirty="0"/>
              <a:t>安全保護 </a:t>
            </a:r>
            <a:r>
              <a:rPr lang="en-US" altLang="zh-TW" dirty="0"/>
              <a:t>- </a:t>
            </a:r>
            <a:r>
              <a:rPr lang="zh-TW" altLang="en-US" dirty="0"/>
              <a:t>板定位</a:t>
            </a:r>
            <a:r>
              <a:rPr lang="zh-TW" altLang="en-US" dirty="0" smtClean="0"/>
              <a:t>異常</a:t>
            </a:r>
            <a:r>
              <a:rPr lang="zh-TW" altLang="en-US" dirty="0"/>
              <a:t>。</a:t>
            </a:r>
            <a:endParaRPr lang="en-US" altLang="zh-TW" dirty="0" smtClean="0"/>
          </a:p>
          <a:p>
            <a:r>
              <a:rPr lang="en-US" altLang="zh-TW" dirty="0" err="1"/>
              <a:t>i</a:t>
            </a:r>
            <a:r>
              <a:rPr lang="en-US" altLang="zh-TW" dirty="0" err="1" smtClean="0"/>
              <a:t>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GotoDetectBIBPosition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StageID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SlotHeight</a:t>
            </a:r>
            <a:r>
              <a:rPr lang="en-US" altLang="zh-TW" dirty="0" smtClean="0"/>
              <a:t>)</a:t>
            </a:r>
            <a:r>
              <a:rPr lang="zh-TW" altLang="en-US" dirty="0"/>
              <a:t>：移動至指定平台對準指定樓層之推車板偵測</a:t>
            </a:r>
            <a:r>
              <a:rPr lang="zh-TW" altLang="en-US" dirty="0" smtClean="0"/>
              <a:t>高度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參數與回傳</a:t>
            </a:r>
            <a:r>
              <a:rPr lang="zh-TW" altLang="en-US" dirty="0"/>
              <a:t>值</a:t>
            </a:r>
            <a:r>
              <a:rPr lang="zh-TW" altLang="en-US" dirty="0" smtClean="0"/>
              <a:t>說明同上。</a:t>
            </a:r>
            <a:endParaRPr lang="en-US" altLang="zh-TW" dirty="0" smtClean="0"/>
          </a:p>
          <a:p>
            <a:pPr lvl="1"/>
            <a:endParaRPr lang="en-US" altLang="zh-TW" dirty="0" smtClean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537" y="2052637"/>
            <a:ext cx="42386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447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JTransfer</a:t>
            </a:r>
            <a:r>
              <a:rPr lang="en-US" altLang="zh-TW" dirty="0" smtClean="0"/>
              <a:t> Class Diagram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b="29690"/>
          <a:stretch/>
        </p:blipFill>
        <p:spPr>
          <a:xfrm>
            <a:off x="1314450" y="746125"/>
            <a:ext cx="4781550" cy="53308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/>
          <a:srcRect t="69431"/>
          <a:stretch/>
        </p:blipFill>
        <p:spPr>
          <a:xfrm>
            <a:off x="6096000" y="2252662"/>
            <a:ext cx="4781550" cy="231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3748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JTransfer</a:t>
            </a:r>
            <a:r>
              <a:rPr lang="zh-TW" altLang="en-US" dirty="0" smtClean="0"/>
              <a:t> </a:t>
            </a:r>
            <a:r>
              <a:rPr lang="en-US" altLang="zh-TW" dirty="0" smtClean="0"/>
              <a:t>Description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2" y="723900"/>
            <a:ext cx="10953748" cy="5410199"/>
          </a:xfrm>
        </p:spPr>
        <p:txBody>
          <a:bodyPr>
            <a:noAutofit/>
          </a:bodyPr>
          <a:lstStyle/>
          <a:p>
            <a:r>
              <a:rPr lang="en-US" altLang="zh-TW" sz="1500" dirty="0" err="1" smtClean="0"/>
              <a:t>int</a:t>
            </a:r>
            <a:r>
              <a:rPr lang="en-US" altLang="zh-TW" sz="1500" dirty="0" smtClean="0"/>
              <a:t> </a:t>
            </a:r>
            <a:r>
              <a:rPr lang="en-US" altLang="zh-TW" sz="1500" dirty="0" err="1" smtClean="0"/>
              <a:t>DistanceOfHook</a:t>
            </a:r>
            <a:r>
              <a:rPr lang="zh-TW" altLang="en-US" sz="1500" dirty="0"/>
              <a:t>：前後勾爪距離</a:t>
            </a:r>
            <a:endParaRPr lang="en-US" altLang="zh-TW" sz="1500" dirty="0" smtClean="0"/>
          </a:p>
          <a:p>
            <a:r>
              <a:rPr lang="en-US" altLang="zh-TW" sz="1500" dirty="0" err="1" smtClean="0"/>
              <a:t>int</a:t>
            </a:r>
            <a:r>
              <a:rPr lang="en-US" altLang="zh-TW" sz="1500" dirty="0" smtClean="0"/>
              <a:t> </a:t>
            </a:r>
            <a:r>
              <a:rPr lang="en-US" altLang="zh-TW" sz="1500" dirty="0" err="1" smtClean="0"/>
              <a:t>SendBIBPosition</a:t>
            </a:r>
            <a:r>
              <a:rPr lang="zh-TW" altLang="en-US" sz="1500" dirty="0"/>
              <a:t>：主機端送板點</a:t>
            </a:r>
            <a:endParaRPr lang="en-US" altLang="zh-TW" sz="1500" dirty="0" smtClean="0"/>
          </a:p>
          <a:p>
            <a:r>
              <a:rPr lang="en-US" altLang="zh-TW" sz="1500" dirty="0" err="1" smtClean="0"/>
              <a:t>int</a:t>
            </a:r>
            <a:r>
              <a:rPr lang="en-US" altLang="zh-TW" sz="1500" dirty="0" smtClean="0"/>
              <a:t> </a:t>
            </a:r>
            <a:r>
              <a:rPr lang="en-US" altLang="zh-TW" sz="1500" dirty="0" err="1" smtClean="0"/>
              <a:t>ReceiveBIBPosition</a:t>
            </a:r>
            <a:r>
              <a:rPr lang="zh-TW" altLang="en-US" sz="1500" dirty="0"/>
              <a:t>：主機端收板點</a:t>
            </a:r>
            <a:endParaRPr lang="en-US" altLang="zh-TW" sz="1500" dirty="0" smtClean="0"/>
          </a:p>
          <a:p>
            <a:r>
              <a:rPr lang="en-US" altLang="zh-TW" sz="1500" dirty="0" err="1" smtClean="0"/>
              <a:t>int</a:t>
            </a:r>
            <a:r>
              <a:rPr lang="en-US" altLang="zh-TW" sz="1500" dirty="0" smtClean="0"/>
              <a:t> </a:t>
            </a:r>
            <a:r>
              <a:rPr lang="en-US" altLang="zh-TW" sz="1500" dirty="0" err="1" smtClean="0"/>
              <a:t>WaitingPosition</a:t>
            </a:r>
            <a:r>
              <a:rPr lang="zh-TW" altLang="en-US" sz="1500" dirty="0"/>
              <a:t>：安全等待點</a:t>
            </a:r>
            <a:endParaRPr lang="en-US" altLang="zh-TW" sz="1500" dirty="0" smtClean="0"/>
          </a:p>
          <a:p>
            <a:r>
              <a:rPr lang="en-US" altLang="zh-TW" sz="1500" dirty="0" err="1" smtClean="0"/>
              <a:t>int</a:t>
            </a:r>
            <a:r>
              <a:rPr lang="en-US" altLang="zh-TW" sz="1500" dirty="0" smtClean="0"/>
              <a:t> </a:t>
            </a:r>
            <a:r>
              <a:rPr lang="en-US" altLang="zh-TW" sz="1500" dirty="0" err="1" smtClean="0"/>
              <a:t>ReadBarcodePosition</a:t>
            </a:r>
            <a:r>
              <a:rPr lang="zh-TW" altLang="en-US" sz="1500" dirty="0"/>
              <a:t>：讀板號位置</a:t>
            </a:r>
            <a:endParaRPr lang="en-US" altLang="zh-TW" sz="1500" dirty="0" smtClean="0"/>
          </a:p>
          <a:p>
            <a:r>
              <a:rPr lang="en-US" altLang="zh-TW" sz="1500" dirty="0" err="1" smtClean="0"/>
              <a:t>int</a:t>
            </a:r>
            <a:r>
              <a:rPr lang="en-US" altLang="zh-TW" sz="1500" dirty="0" smtClean="0"/>
              <a:t> </a:t>
            </a:r>
            <a:r>
              <a:rPr lang="en-US" altLang="zh-TW" sz="1500" dirty="0" err="1" smtClean="0"/>
              <a:t>DetectCarrierBIBPosition</a:t>
            </a:r>
            <a:r>
              <a:rPr lang="zh-TW" altLang="en-US" sz="1500" dirty="0"/>
              <a:t>：推車有無板偵測點</a:t>
            </a:r>
            <a:endParaRPr lang="en-US" altLang="zh-TW" sz="1500" dirty="0" smtClean="0"/>
          </a:p>
          <a:p>
            <a:r>
              <a:rPr lang="en-US" altLang="zh-TW" sz="1500" dirty="0" err="1" smtClean="0"/>
              <a:t>int</a:t>
            </a:r>
            <a:r>
              <a:rPr lang="en-US" altLang="zh-TW" sz="1500" dirty="0" smtClean="0"/>
              <a:t> </a:t>
            </a:r>
            <a:r>
              <a:rPr lang="en-US" altLang="zh-TW" sz="1500" dirty="0" err="1" smtClean="0"/>
              <a:t>PullInBIBPosition</a:t>
            </a:r>
            <a:r>
              <a:rPr lang="zh-TW" altLang="en-US" sz="1500" dirty="0"/>
              <a:t>：推車進板點</a:t>
            </a:r>
            <a:endParaRPr lang="en-US" altLang="zh-TW" sz="1500" dirty="0" smtClean="0"/>
          </a:p>
          <a:p>
            <a:r>
              <a:rPr lang="en-US" altLang="zh-TW" sz="1500" dirty="0" err="1" smtClean="0"/>
              <a:t>int</a:t>
            </a:r>
            <a:r>
              <a:rPr lang="en-US" altLang="zh-TW" sz="1500" dirty="0" smtClean="0"/>
              <a:t> </a:t>
            </a:r>
            <a:r>
              <a:rPr lang="en-US" altLang="zh-TW" sz="1500" dirty="0" err="1" smtClean="0"/>
              <a:t>PushOutBIBPosition</a:t>
            </a:r>
            <a:r>
              <a:rPr lang="zh-TW" altLang="en-US" sz="1500" dirty="0"/>
              <a:t>：推車退板點</a:t>
            </a:r>
            <a:endParaRPr lang="en-US" altLang="zh-TW" sz="1500" dirty="0" smtClean="0"/>
          </a:p>
          <a:p>
            <a:r>
              <a:rPr lang="en-US" altLang="zh-TW" sz="1500" dirty="0" smtClean="0"/>
              <a:t>bool </a:t>
            </a:r>
            <a:r>
              <a:rPr lang="en-US" altLang="zh-TW" sz="1500" dirty="0" err="1" smtClean="0"/>
              <a:t>CarrierBoardExists</a:t>
            </a:r>
            <a:r>
              <a:rPr lang="en-US" altLang="zh-TW" sz="1500" dirty="0" smtClean="0"/>
              <a:t>()</a:t>
            </a:r>
            <a:r>
              <a:rPr lang="zh-TW" altLang="en-US" sz="1500" dirty="0"/>
              <a:t>：判斷平台內有無板</a:t>
            </a:r>
            <a:endParaRPr lang="en-US" altLang="zh-TW" sz="1500" dirty="0" smtClean="0"/>
          </a:p>
          <a:p>
            <a:r>
              <a:rPr lang="en-US" altLang="zh-TW" sz="1500" dirty="0" smtClean="0"/>
              <a:t>bool </a:t>
            </a:r>
            <a:r>
              <a:rPr lang="en-US" altLang="zh-TW" sz="1500" dirty="0" err="1" smtClean="0"/>
              <a:t>GotoDetectCarrierBIBPosition</a:t>
            </a:r>
            <a:r>
              <a:rPr lang="en-US" altLang="zh-TW" sz="1500" dirty="0" smtClean="0"/>
              <a:t>()</a:t>
            </a:r>
            <a:r>
              <a:rPr lang="zh-TW" altLang="en-US" sz="1500" dirty="0"/>
              <a:t>：判斷推車內有無</a:t>
            </a:r>
            <a:r>
              <a:rPr lang="zh-TW" altLang="en-US" sz="1500" dirty="0" smtClean="0"/>
              <a:t>板</a:t>
            </a:r>
            <a:endParaRPr lang="en-US" altLang="zh-TW" sz="1500" dirty="0" smtClean="0"/>
          </a:p>
          <a:p>
            <a:r>
              <a:rPr lang="en-US" altLang="zh-TW" sz="1500" dirty="0"/>
              <a:t>void </a:t>
            </a:r>
            <a:r>
              <a:rPr lang="en-US" altLang="zh-TW" sz="1500" dirty="0" err="1"/>
              <a:t>TaskReset</a:t>
            </a:r>
            <a:r>
              <a:rPr lang="en-US" altLang="zh-TW" sz="1500" dirty="0"/>
              <a:t>()</a:t>
            </a:r>
            <a:r>
              <a:rPr lang="zh-TW" altLang="en-US" sz="1500" dirty="0"/>
              <a:t>：重置 </a:t>
            </a:r>
            <a:r>
              <a:rPr lang="en-US" altLang="zh-TW" sz="1500" dirty="0"/>
              <a:t>Task</a:t>
            </a:r>
          </a:p>
          <a:p>
            <a:r>
              <a:rPr lang="en-US" altLang="zh-TW" sz="1500" dirty="0"/>
              <a:t>JTRF_FLOW_STATUS </a:t>
            </a:r>
            <a:r>
              <a:rPr lang="en-US" altLang="zh-TW" sz="1500" dirty="0" err="1"/>
              <a:t>GotoDetectCarrierBIBPosition</a:t>
            </a:r>
            <a:r>
              <a:rPr lang="en-US" altLang="zh-TW" sz="1500" dirty="0"/>
              <a:t>(void)</a:t>
            </a:r>
            <a:r>
              <a:rPr lang="zh-TW" altLang="en-US" sz="1500" dirty="0"/>
              <a:t>：移動到推車有無板偵測點 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呼叫此函式前，記得先呼叫 </a:t>
            </a:r>
            <a:r>
              <a:rPr lang="en-US" altLang="zh-TW" sz="15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TaskReset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函式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n-US" altLang="zh-TW" sz="1500" dirty="0"/>
              <a:t>JTRF_FLOW_STATUS </a:t>
            </a:r>
            <a:r>
              <a:rPr lang="en-US" altLang="zh-TW" sz="1500" dirty="0" err="1"/>
              <a:t>PullInBoardFromCarrier</a:t>
            </a:r>
            <a:r>
              <a:rPr lang="en-US" altLang="zh-TW" sz="1500" dirty="0"/>
              <a:t>(</a:t>
            </a:r>
            <a:r>
              <a:rPr lang="en-US" altLang="zh-TW" sz="1500" dirty="0" err="1"/>
              <a:t>AnsiString</a:t>
            </a:r>
            <a:r>
              <a:rPr lang="en-US" altLang="zh-TW" sz="1500" dirty="0"/>
              <a:t> &amp;</a:t>
            </a:r>
            <a:r>
              <a:rPr lang="en-US" altLang="zh-TW" sz="1500" dirty="0" err="1"/>
              <a:t>sBC</a:t>
            </a:r>
            <a:r>
              <a:rPr lang="en-US" altLang="zh-TW" sz="1500" dirty="0"/>
              <a:t>)</a:t>
            </a:r>
            <a:r>
              <a:rPr lang="zh-TW" altLang="en-US" sz="1500" dirty="0"/>
              <a:t>：從推車進板流程 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呼叫此函式前，記得先呼叫 </a:t>
            </a:r>
            <a:r>
              <a:rPr lang="en-US" altLang="zh-TW" sz="15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TaskReset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函式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r>
              <a:rPr lang="zh-TW" altLang="en-US" sz="1500" dirty="0">
                <a:solidFill>
                  <a:schemeClr val="bg1"/>
                </a:solidFill>
              </a:rPr>
              <a:t>參數 </a:t>
            </a:r>
            <a:r>
              <a:rPr lang="en-US" altLang="zh-TW" sz="1500" dirty="0" err="1">
                <a:solidFill>
                  <a:schemeClr val="bg1"/>
                </a:solidFill>
              </a:rPr>
              <a:t>sBC</a:t>
            </a:r>
            <a:r>
              <a:rPr lang="zh-TW" altLang="en-US" sz="1500" dirty="0">
                <a:solidFill>
                  <a:schemeClr val="bg1"/>
                </a:solidFill>
              </a:rPr>
              <a:t>：板號</a:t>
            </a:r>
            <a:endParaRPr lang="en-US" altLang="zh-TW" sz="1500" dirty="0">
              <a:solidFill>
                <a:schemeClr val="bg1"/>
              </a:solidFill>
            </a:endParaRPr>
          </a:p>
          <a:p>
            <a:r>
              <a:rPr lang="en-US" altLang="zh-TW" sz="1500" dirty="0"/>
              <a:t>JTRF_FLOW_STATUS </a:t>
            </a:r>
            <a:r>
              <a:rPr lang="en-US" altLang="zh-TW" sz="1500" dirty="0" err="1"/>
              <a:t>PushOutBourdToCarrier</a:t>
            </a:r>
            <a:r>
              <a:rPr lang="en-US" altLang="zh-TW" sz="1500" dirty="0"/>
              <a:t>(void)</a:t>
            </a:r>
            <a:r>
              <a:rPr lang="zh-TW" altLang="en-US" sz="1500" dirty="0"/>
              <a:t>：退板至推車流程 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呼叫此函式前，記得先呼叫 </a:t>
            </a:r>
            <a:r>
              <a:rPr lang="en-US" altLang="zh-TW" sz="15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TaskReset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函式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n-US" altLang="zh-TW" sz="1500" dirty="0"/>
              <a:t>JTRF_FLOW_STATUS </a:t>
            </a:r>
            <a:r>
              <a:rPr lang="en-US" altLang="zh-TW" sz="1500" dirty="0" err="1"/>
              <a:t>SendBoardToBoardStage</a:t>
            </a:r>
            <a:r>
              <a:rPr lang="en-US" altLang="zh-TW" sz="1500" dirty="0"/>
              <a:t>(void)</a:t>
            </a:r>
            <a:r>
              <a:rPr lang="zh-TW" altLang="en-US" sz="1500" dirty="0"/>
              <a:t>：送板至主機流程 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呼叫此函式前，記得先呼叫 </a:t>
            </a:r>
            <a:r>
              <a:rPr lang="en-US" altLang="zh-TW" sz="15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TaskReset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函式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n-US" altLang="zh-TW" sz="1500" dirty="0"/>
              <a:t>JTRF_FLOW_STATUS </a:t>
            </a:r>
            <a:r>
              <a:rPr lang="en-US" altLang="zh-TW" sz="1500" dirty="0" err="1"/>
              <a:t>ReceiveBoardFromBoardStage</a:t>
            </a:r>
            <a:r>
              <a:rPr lang="en-US" altLang="zh-TW" sz="1500" dirty="0"/>
              <a:t>(void)</a:t>
            </a:r>
            <a:r>
              <a:rPr lang="zh-TW" altLang="en-US" sz="1500" dirty="0"/>
              <a:t>：從主機收板流程 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呼叫此函式前，記得先呼叫 </a:t>
            </a:r>
            <a:r>
              <a:rPr lang="en-US" altLang="zh-TW" sz="15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TaskReset</a:t>
            </a:r>
            <a:r>
              <a:rPr lang="en-US" altLang="zh-TW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zh-TW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函式</a:t>
            </a:r>
            <a:r>
              <a:rPr lang="en-US" altLang="zh-TW" sz="1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zh-TW" sz="15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70208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交握時序</a:t>
            </a:r>
            <a:endParaRPr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1992" y="146050"/>
            <a:ext cx="7862321" cy="652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039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Elevator workflow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2873" y="711200"/>
            <a:ext cx="6926254" cy="543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7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Elevator </a:t>
            </a:r>
            <a:r>
              <a:rPr lang="en-US" altLang="zh-TW" dirty="0" err="1" smtClean="0"/>
              <a:t>Subflow</a:t>
            </a:r>
            <a:r>
              <a:rPr lang="en-US" altLang="zh-TW" dirty="0" smtClean="0"/>
              <a:t> - 1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下層收</a:t>
            </a:r>
            <a:r>
              <a:rPr lang="zh-TW" altLang="en-US" dirty="0" smtClean="0"/>
              <a:t>板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/>
              <a:t>上層送</a:t>
            </a:r>
            <a:r>
              <a:rPr lang="zh-TW" altLang="en-US" dirty="0" smtClean="0"/>
              <a:t>板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/>
              <a:t>上層退板</a:t>
            </a:r>
          </a:p>
        </p:txBody>
      </p:sp>
      <p:pic>
        <p:nvPicPr>
          <p:cNvPr id="4" name="內容版面配置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203611"/>
            <a:ext cx="10972800" cy="791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09637" y="2466181"/>
            <a:ext cx="103727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內容版面配置區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414462" y="3771106"/>
            <a:ext cx="936307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944681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Elevator </a:t>
            </a:r>
            <a:r>
              <a:rPr lang="en-US" altLang="zh-TW" dirty="0" err="1"/>
              <a:t>Subflow</a:t>
            </a:r>
            <a:r>
              <a:rPr lang="en-US" altLang="zh-TW" dirty="0"/>
              <a:t> - 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下層退版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上層拉版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14462" y="1142206"/>
            <a:ext cx="9363075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內容版面配置區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09600" y="4640353"/>
            <a:ext cx="10972800" cy="1461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234146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Carrier Workflow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8762" y="146050"/>
            <a:ext cx="6470859" cy="644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070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Carrier – Scan Button and Light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303829"/>
            <a:ext cx="10972800" cy="421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03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Carrier </a:t>
            </a:r>
            <a:r>
              <a:rPr lang="en-US" altLang="zh-TW" dirty="0" err="1" smtClean="0"/>
              <a:t>Subflow</a:t>
            </a:r>
            <a:r>
              <a:rPr lang="en-US" altLang="zh-TW" dirty="0" smtClean="0"/>
              <a:t> - 1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夾持</a:t>
            </a:r>
            <a:r>
              <a:rPr lang="zh-TW" altLang="en-US" dirty="0" smtClean="0"/>
              <a:t>推車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釋放推車</a:t>
            </a:r>
          </a:p>
        </p:txBody>
      </p:sp>
      <p:pic>
        <p:nvPicPr>
          <p:cNvPr id="4" name="內容版面配置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7387" y="1399381"/>
            <a:ext cx="8277225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內容版面配置區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28812" y="4075906"/>
            <a:ext cx="833437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510598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Carrier </a:t>
            </a:r>
            <a:r>
              <a:rPr lang="en-US" altLang="zh-TW" dirty="0" err="1"/>
              <a:t>Subflow</a:t>
            </a:r>
            <a:r>
              <a:rPr lang="en-US" altLang="zh-TW" dirty="0"/>
              <a:t> - 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開啟</a:t>
            </a:r>
            <a:r>
              <a:rPr lang="zh-TW" altLang="en-US" dirty="0" smtClean="0"/>
              <a:t>閘門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關閉閘門</a:t>
            </a:r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3587" y="1361281"/>
            <a:ext cx="812482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33587" y="4047331"/>
            <a:ext cx="812482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429597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16600" b="1" dirty="0" smtClean="0"/>
              <a:t>The End</a:t>
            </a:r>
            <a:endParaRPr lang="zh-TW" altLang="en-US" sz="16600" b="1" dirty="0"/>
          </a:p>
        </p:txBody>
      </p:sp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44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V">
  <a:themeElements>
    <a:clrScheme name="Office 佈景主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佈景主題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佈景主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oV" id="{F745BA77-B833-490F-8157-17B579BC2CB9}" vid="{03E9A116-5381-4177-AD38-49E325274F5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ProV</Template>
  <TotalTime>17055</TotalTime>
  <Words>1495</Words>
  <Application>Microsoft Office PowerPoint</Application>
  <PresentationFormat>寬螢幕</PresentationFormat>
  <Paragraphs>288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新細明體</vt:lpstr>
      <vt:lpstr>標楷體</vt:lpstr>
      <vt:lpstr>Arial</vt:lpstr>
      <vt:lpstr>Calibri</vt:lpstr>
      <vt:lpstr>ProV</vt:lpstr>
      <vt:lpstr>BIB exchanger Module</vt:lpstr>
      <vt:lpstr>HARDWARE</vt:lpstr>
      <vt:lpstr>overview</vt:lpstr>
      <vt:lpstr>Elevator &amp; Carrier</vt:lpstr>
      <vt:lpstr>Elevator &amp; Carrier</vt:lpstr>
      <vt:lpstr>Stage</vt:lpstr>
      <vt:lpstr>Top stage</vt:lpstr>
      <vt:lpstr>Down stage</vt:lpstr>
      <vt:lpstr>SOFTWARE</vt:lpstr>
      <vt:lpstr>Component – level 1</vt:lpstr>
      <vt:lpstr>Component – level 2</vt:lpstr>
      <vt:lpstr>Component – level 3</vt:lpstr>
      <vt:lpstr>BIB Exchanger module</vt:lpstr>
      <vt:lpstr>JCassetteInfo Class Diagram</vt:lpstr>
      <vt:lpstr>JCarrier Class Diagram</vt:lpstr>
      <vt:lpstr>JCarrier Description</vt:lpstr>
      <vt:lpstr>JElevator</vt:lpstr>
      <vt:lpstr>JTransfer Class Diagram</vt:lpstr>
      <vt:lpstr>JTransfer Description</vt:lpstr>
      <vt:lpstr>交握時序</vt:lpstr>
      <vt:lpstr>Elevator workflow</vt:lpstr>
      <vt:lpstr>Elevator Subflow - 1</vt:lpstr>
      <vt:lpstr>Elevator Subflow - 2</vt:lpstr>
      <vt:lpstr>Carrier Workflow</vt:lpstr>
      <vt:lpstr>Carrier – Scan Button and Light</vt:lpstr>
      <vt:lpstr>Carrier Subflow - 1</vt:lpstr>
      <vt:lpstr>Carrier Subflow - 2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V-Tray Module</dc:title>
  <dc:creator>JayTsao</dc:creator>
  <cp:lastModifiedBy>Windows 使用者</cp:lastModifiedBy>
  <cp:revision>106</cp:revision>
  <cp:lastPrinted>2019-01-10T09:45:46Z</cp:lastPrinted>
  <dcterms:created xsi:type="dcterms:W3CDTF">2016-05-15T02:34:30Z</dcterms:created>
  <dcterms:modified xsi:type="dcterms:W3CDTF">2019-01-10T09:59:42Z</dcterms:modified>
</cp:coreProperties>
</file>